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85800"/>
            <a:ext cx="1325880" cy="1325880"/>
          </a:xfrm>
          <a:prstGeom prst="ellipse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Plan de Cuentas y Registro Contable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33832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CCF2"/>
                </a:solidFill>
              </a:rPr>
              <a:t>Estructura del SIAF e Instrumento Contable del Sector Público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Unidades VI y VIII  ·  3 horas sincrónicas  ·  Google Meet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Maestría en Adm. y Gestión Pública  ·  M-AGP04  ·  Instituto Superior Centuria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</a:rPr>
              <a:t>BLOQUE 1  —  EL PLAN DE CUENTAS DEL SECTOR PÚBLICO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6573"/>
                </a:solidFill>
              </a:rPr>
              <a:t>El lenguaje común del Estado paraguayo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Estructura del Plan de Cuentas — Lógica del Código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El Plan de Cuentas usa una codificación decimal jerárquica de hasta 8 dígitos. Cada nivel agrega más especificidad: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8503920" cy="621792"/>
          </a:xfrm>
          <a:prstGeom prst="rect">
            <a:avLst/>
          </a:prstGeom>
          <a:solidFill>
            <a:srgbClr val="D6E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1 DÍG.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508760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CLASE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Agrupa grandes categorías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</a:rPr>
              <a:t>1=Activo  /  2=Pasivo  /  3=Patrimonio  /  4=Ingresos  /  5=Gastos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16712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67128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2 DÍG.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2167128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GRUPO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1671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Sub-agrupa por naturaleza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2167128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</a:rPr>
              <a:t>1.1=Activo Corriente  /  5.1=Servicios Personales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825496"/>
            <a:ext cx="8503920" cy="621792"/>
          </a:xfrm>
          <a:prstGeom prst="rect">
            <a:avLst/>
          </a:prstGeom>
          <a:solidFill>
            <a:srgbClr val="D6E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25496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3 DÍG.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2825496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SUBGRUPO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82549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Especifica la categoría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825496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</a:rPr>
              <a:t>1.1.1=Disponibilidades  /  5.1.1=Personal Permanente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48386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83864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4 DÍG.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348386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CUENTA PRINCIPAL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48386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La cuenta contable propiamente dicha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348386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</a:rPr>
              <a:t>1.1.1.1=Caja y Bancos  /  5.1.1.1=Sueldos y Salarios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142232"/>
            <a:ext cx="8503920" cy="621792"/>
          </a:xfrm>
          <a:prstGeom prst="rect">
            <a:avLst/>
          </a:prstGeom>
          <a:solidFill>
            <a:srgbClr val="D6E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42232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5-8 DÍG.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" y="4142232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SUBCUENTA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414223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Desagrega por inst., prog. o fuente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414223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573"/>
                </a:solidFill>
              </a:rPr>
              <a:t>1.1.1.1.001=Caja Chica  /  1.1.1.1.002=Banco Continental Cta. Cte.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4  ·  Plan de Cuentas y Registro Contable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✏️  EJEMPLO 1  —  Desglose del código 5.1.1.03.001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1508760" cy="731520"/>
          </a:xfrm>
          <a:prstGeom prst="rect">
            <a:avLst/>
          </a:prstGeom>
          <a:solidFill>
            <a:srgbClr val="D6E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005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CLASE GASTOS 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→ Todo lo que el Estado gasta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8503920" cy="731520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37360"/>
            <a:ext cx="1508760" cy="731520"/>
          </a:xfrm>
          <a:prstGeom prst="rect">
            <a:avLst/>
          </a:prstGeom>
          <a:solidFill>
            <a:srgbClr val="D6E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6479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5.1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GRUPO SERVICIOS PERSONALES 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→ Gastos en personal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14600"/>
            <a:ext cx="1508760" cy="731520"/>
          </a:xfrm>
          <a:prstGeom prst="rect">
            <a:avLst/>
          </a:prstGeom>
          <a:solidFill>
            <a:srgbClr val="D6E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4203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5.1.1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5603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SUBGRUPO PERSONAL PERMANENTE 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→ Funcionarios de planta permanente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8503920" cy="731520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291840"/>
            <a:ext cx="1508760" cy="731520"/>
          </a:xfrm>
          <a:prstGeom prst="rect">
            <a:avLst/>
          </a:prstGeom>
          <a:solidFill>
            <a:srgbClr val="D6E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927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5.1.1.03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3375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CUENTA BONIFICACIONES Y GRATIFICACIONES 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→ Adicionales al sueldo básico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069080"/>
            <a:ext cx="850392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069080"/>
            <a:ext cx="1508760" cy="731520"/>
          </a:xfrm>
          <a:prstGeom prst="rect">
            <a:avLst/>
          </a:prstGeom>
          <a:solidFill>
            <a:srgbClr val="D6EA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5.1.1.03.001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1148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631"/>
                </a:solidFill>
              </a:rPr>
              <a:t>SUBCUENTA BONIFICACIÓN POR ANTIGÜEDAD 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→ Específica — el código más detallado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4  ·  Plan de Cuentas y Registro Contable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Las 6 Clases del Plan de Cuentas — Sector Público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463040"/>
                <a:gridCol w="1188720"/>
                <a:gridCol w="5486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Nombre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Naturaleza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¿Qué registra el Estado?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ACTIVO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Deudora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Efectivo en BCP, bienes inmuebles, vehículos, equipos, inversiones en ANDE, ESSAP, COPACO, obras en construcción.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PASIVO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Acreedora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Sueldos devengados pendientes, deuda con proveedores, préstamos BID/BM/CAF, bonos soberanos, pasivos contingentes.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PATRIMONIO NETO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Acreedora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Capital histórico del Estado, resultado del ejercicio, ajustes por revaluación de activos.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INGRESOS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Acreedora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Ingresos tributarios (IVA, IRE, IRP, IMAGRO), no tributarios (tasas, multas), transferencias, préstamos recibidos.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GASTOS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Deudora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Sueldos y salarios, bienes de consumo, servicios contratados, inversión en infraestructura, pago de deuda externa.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CUENTAS DE ORDEN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Ambas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Garantías de proveedores, avales del Estado, compromisos futuros, bienes en custodia.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4  ·  Plan de Cuentas y Registro Contable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✅  EJ. RESUELTO 1  —  Clasificar transacciones — Municipalidad de Ciudad del Este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73517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TRANSACCIÓN 1: Pago sueldos municipales Gs. 4.200 MM → Déb: 5.1.1.01 Sueldos y Salarios Gs. 4.200 MM / Cred: 1.1.1.1 Banco Continental Gs. 4.200 MM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731874"/>
            <a:ext cx="8503920" cy="73517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9306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TRANSACCIÓN 2: Recaudación Impuesto Inmobiliario Gs. 1.850 MM → Déb: 1.1.1.1 Banco Gs. 1.850 MM / Cred: 4.1.1.01 Impuesto Inmobiliario Gs. 1.850 MM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503627"/>
            <a:ext cx="8503920" cy="73517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1059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TRANSACCIÓN 3: Compra camión Gs. 920 MM (pendiente pago) → Déb: 1.2.4.3 Vehículos Gs. 920 MM / Cred: 2.1.2.1 Cuentas por Pagar Gs. 920 MM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275381"/>
            <a:ext cx="8503920" cy="73517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02813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TRANSACCIÓN 4: Préstamo BNF Gs. 5.000 MM → Déb: 1.1.1.1 Banco Gs. 5.000 MM / Cred: 2.2.1.1 Préstamos LP BNF Gs. 5.000 MM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047134"/>
            <a:ext cx="8503920" cy="73517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74566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✅ VERIFICACIÓN: ΔActivo = +3.570 / ΔPasivo = +5.920 / ΔPatrimonio = –2.350 → 3.570 = 5.920 – 2.350 ✓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4  ·  Plan de Cuentas y Registro Contable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📝  EJERCICIO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La SEAM realiza las siguientes operaciones en septiembre. Para cada una indique: cuenta afectada, si se debita o acredita, y el monto.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A: Pago de factura de ANDE Gs. 85 MM (ya estaba devengada de agosto).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B: Recaudación de multas ambientales: Gs. 320 MM depositados en banco.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C: Compra de computadoras por Gs. 180 MM al contado.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D: Factura de consultoría Gs. 450 MM recibida y aprobada (aún no pagada).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E: Reconocimiento de demanda judicial que probablemente se perderá: Gs. 2.800 MM.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850392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Resolución: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4  ·  Plan de Cuentas y Registro Contable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📝  EJERCICIO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Balance de Sumas y Saldos al 30/09 — verifique que débitos totales = créditos totales: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Caja y Bancos: déb. Gs. 42.000 / cred. Gs. 35.800  ·  Cuentas por cobrar: déb. 8.500 / cred. 3.200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Bienes de uso: déb. 95.000 / cred. 12.000 (depreciación)  ·  Cuentas por pagar: déb. 18.000 / cred. 26.500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Deuda LP: déb. 0 / cred. 45.000  ·  Patrimonio: déb. 0 / cred. 38.000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Ingresos tributarios: déb. 0 / cred. 85.000  ·  Gastos sueldos: déb. 62.000 / cred. 0  ·  Gastos bienes: déb. 24.000 / cred. 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a) Complete el Balance de Sumas y Saldos. b) Calcule saldo de cada cuenta. c) Elabore el Estado de Resultados simplificado.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8503920" cy="256032"/>
          </a:xfrm>
          <a:prstGeom prst="rect">
            <a:avLst/>
          </a:prstGeom>
          <a:solidFill>
            <a:srgbClr val="D6EAF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Resolución: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4  ·  Plan de Cuentas y Registro Contable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56CCF2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 TAREA POST-CLASE 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CCF2"/>
                </a:solidFill>
              </a:rPr>
              <a:t>Subir en Google Classroom antes de la próxima clase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CCF2"/>
                </a:solidFill>
              </a:rPr>
              <a:t>PLAN DE CUENTAS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Descargue el Plan de Cuentas del MHCP. Identifique las 10 cuentas más usadas en su institución.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75688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12140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CCF2"/>
                </a:solidFill>
              </a:rPr>
              <a:t>SECCIÓN VI TFI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Redacte el borrador del diagnóstico contable-financiero de su institución (mínimo 2 páginas).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56C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25496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87121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CCF2"/>
                </a:solidFill>
              </a:rPr>
              <a:t>PRESENTACIÓN ORAL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Prepare una síntesis de 2 minutos: institución + hallazgo principal + hipótesis de problema.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4 - Plan de Cuentas y Registro Contable</dc:title>
  <dc:subject>PptxGenJS Presentation</dc:subject>
  <dc:creator>PptxGenJS</dc:creator>
  <cp:lastModifiedBy>PptxGenJS</cp:lastModifiedBy>
  <cp:revision>1</cp:revision>
  <dcterms:created xsi:type="dcterms:W3CDTF">2026-03-13T20:35:21Z</dcterms:created>
  <dcterms:modified xsi:type="dcterms:W3CDTF">2026-03-13T20:35:21Z</dcterms:modified>
</cp:coreProperties>
</file>