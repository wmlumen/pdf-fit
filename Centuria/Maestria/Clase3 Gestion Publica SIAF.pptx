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8A0BF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E8A0BF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685800"/>
            <a:ext cx="1325880" cy="1325880"/>
          </a:xfrm>
          <a:prstGeom prst="ellipse">
            <a:avLst/>
          </a:prstGeom>
          <a:solidFill>
            <a:srgbClr val="E8A0BF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0"/>
            <a:ext cx="1325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3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Gestión Pública y SIAF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33832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A0BF"/>
                </a:solidFill>
              </a:rPr>
              <a:t>Modernización del Estado y Sistema Integrado de Administración Financiera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39776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Unidades IV y V  ·  3 horas sincrónicas  ·  Google Meet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46634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Maestría en Adm. y Gestión Pública  ·  M-AGP04  ·  Instituto Superior Centuria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C1A4A"/>
          </a:solidFill>
          <a:ln w="12700">
            <a:solidFill>
              <a:srgbClr val="5C1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5C1A4A"/>
          </a:solidFill>
          <a:ln w="12700">
            <a:solidFill>
              <a:srgbClr val="5C1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1371600"/>
            <a:ext cx="2743200" cy="73152"/>
          </a:xfrm>
          <a:prstGeom prst="rect">
            <a:avLst/>
          </a:prstGeom>
          <a:solidFill>
            <a:srgbClr val="E8A0BF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C1A4A"/>
                </a:solidFill>
              </a:rPr>
              <a:t>BLOQUE 1  —  GESTIÓN PÚBLICA Y MODERNIZACIÓN DEL ESTADO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66573"/>
                </a:solidFill>
              </a:rPr>
              <a:t>Los 3 modelos de administración pública y su huella en Paraguay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C1A4A"/>
          </a:solidFill>
          <a:ln w="12700">
            <a:solidFill>
              <a:srgbClr val="5C1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E8A0BF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3152"/>
            <a:ext cx="8942832" cy="777240"/>
          </a:xfrm>
          <a:prstGeom prst="rect">
            <a:avLst/>
          </a:prstGeom>
          <a:solidFill>
            <a:srgbClr val="5C1A4A"/>
          </a:solidFill>
          <a:ln w="12700">
            <a:solidFill>
              <a:srgbClr val="5C1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Los 3 Modelos de Administración Pública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2560320"/>
                <a:gridCol w="28346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Modelo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Período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Principio central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¿Qué herencia dejó en Paraguay?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Administración Pública Clásica (Weber)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1880-1970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El Estado como máquina burocrática: normas rígidas, jerarquía formal, funcionarios permanentes.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Cultura del «se hace así porque siempre se hizo así». Tramitología y resistencia al cambio.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Nueva Gestión Pública (NGP)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1980-2010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El Estado debe gestionar como empresa eficiente: resultados medibles, descentralización.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La Ley 1535/99, el SIAF, compras electrónicas (DNCP), énfasis en indicadores de desempeño.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Gobernanza Pública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2000-presente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El Estado necesita redes de colaboración: ciudadanos, privados, sociedad civil.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</a:rPr>
                        <a:t>Gobierno Abierto, portales de transparencia, CONACOM, audiencias públicas.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01168" y="4919472"/>
            <a:ext cx="8942832" cy="219456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91947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</a:rPr>
              <a:t>M-AGP04  ·  Clase 3  ·  Gestión Pública y SIAF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C1A4A"/>
          </a:solidFill>
          <a:ln w="12700">
            <a:solidFill>
              <a:srgbClr val="5C1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E8A0BF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3152"/>
            <a:ext cx="8942832" cy="777240"/>
          </a:xfrm>
          <a:prstGeom prst="rect">
            <a:avLst/>
          </a:prstGeom>
          <a:solidFill>
            <a:srgbClr val="5C1A4A"/>
          </a:solidFill>
          <a:ln w="12700">
            <a:solidFill>
              <a:srgbClr val="5C1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Los 3 Modelos Conviviendo en ANDE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92608" y="914400"/>
            <a:ext cx="2788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C1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914400"/>
            <a:ext cx="2788920" cy="411480"/>
          </a:xfrm>
          <a:prstGeom prst="rect">
            <a:avLst/>
          </a:prstGeom>
          <a:solidFill>
            <a:srgbClr val="5C1A4A"/>
          </a:solidFill>
          <a:ln w="12700">
            <a:solidFill>
              <a:srgbClr val="5C1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144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WEBERIANO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" y="1371600"/>
            <a:ext cx="2578608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Monopolio estatal, jerarquía rígida, estatuto del empleado público, sindicatos fuertes, procedimientos administrativos lentos.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18688" y="914400"/>
            <a:ext cx="2788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563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914400"/>
            <a:ext cx="2788920" cy="41148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9144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NUEVA GESTIÓN PÚBLICA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28416" y="1371600"/>
            <a:ext cx="2578608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Usa el SIAF, publica EEFF anuales, tiene metas de cobertura eléctrica medibles, rinde cuentas al MHCP.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44768" y="914400"/>
            <a:ext cx="2788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7B241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44768" y="914400"/>
            <a:ext cx="2788920" cy="41148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9144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GOBERNANZA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54496" y="1371600"/>
            <a:ext cx="2578608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Ventanilla de atención al cliente, portal web, redes sociales. Consulta a comunidades (limitada).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66573"/>
                </a:solidFill>
              </a:rPr>
              <a:t>💡 El contador público de ANDE debe responder a los 3 modelos simultáneamente.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1168" y="4919472"/>
            <a:ext cx="8942832" cy="219456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91947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</a:rPr>
              <a:t>M-AGP04  ·  Clase 3  ·  Gestión Pública y SIAF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C1A4A"/>
          </a:solidFill>
          <a:ln w="12700">
            <a:solidFill>
              <a:srgbClr val="5C1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5C1A4A"/>
          </a:solidFill>
          <a:ln w="12700">
            <a:solidFill>
              <a:srgbClr val="5C1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1371600"/>
            <a:ext cx="2743200" cy="73152"/>
          </a:xfrm>
          <a:prstGeom prst="rect">
            <a:avLst/>
          </a:prstGeom>
          <a:solidFill>
            <a:srgbClr val="E8A0BF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C1A4A"/>
                </a:solidFill>
              </a:rPr>
              <a:t>BLOQUE 2  —  EL SIAF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66573"/>
                </a:solidFill>
              </a:rPr>
              <a:t>Sistema Integrado de Administración Financiera del Estado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C1A4A"/>
          </a:solidFill>
          <a:ln w="12700">
            <a:solidFill>
              <a:srgbClr val="5C1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E8A0BF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3152"/>
            <a:ext cx="8942832" cy="777240"/>
          </a:xfrm>
          <a:prstGeom prst="rect">
            <a:avLst/>
          </a:prstGeom>
          <a:solidFill>
            <a:srgbClr val="5C1A4A"/>
          </a:solidFill>
          <a:ln w="12700">
            <a:solidFill>
              <a:srgbClr val="5C1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¿Qué es el SIAF y por qué cambió todo?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</a:rPr>
              <a:t>Antes de la Ley 1535/99: cada Ministerio llevaba sus propias cuentas en sistemas incompatibles. Al cierre del año nadie sabía cuánto había gastado realmente el Estado. El SIAF cambió eso radicalmente.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810512"/>
            <a:ext cx="8503920" cy="347472"/>
          </a:xfrm>
          <a:prstGeom prst="rect">
            <a:avLst/>
          </a:prstGeom>
          <a:solidFill>
            <a:srgbClr val="5C1A4A"/>
          </a:solidFill>
          <a:ln w="12700">
            <a:solidFill>
              <a:srgbClr val="5C1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1051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📌  DEFINICIÓN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157984"/>
            <a:ext cx="8503920" cy="777240"/>
          </a:xfrm>
          <a:prstGeom prst="rect">
            <a:avLst/>
          </a:prstGeom>
          <a:solidFill>
            <a:srgbClr val="FAF0F5"/>
          </a:solidFill>
          <a:ln w="12700">
            <a:solidFill>
              <a:srgbClr val="5C1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</a:rPr>
              <a:t>El SIAF es el sistema nervioso central de las finanzas públicas paraguayas. Es el software donde se registran, controlan y reportan TODAS las transacciones del Estado: presupuesto, compras, pagos, ingresos, deuda, inversión.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2608" y="3035808"/>
            <a:ext cx="1645920" cy="1755648"/>
          </a:xfrm>
          <a:prstGeom prst="rect">
            <a:avLst/>
          </a:prstGeom>
          <a:solidFill>
            <a:srgbClr val="F5E6F0"/>
          </a:solidFill>
          <a:ln w="12700">
            <a:solidFill>
              <a:srgbClr val="5C1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2608" y="3035808"/>
            <a:ext cx="1645920" cy="347472"/>
          </a:xfrm>
          <a:prstGeom prst="rect">
            <a:avLst/>
          </a:prstGeom>
          <a:solidFill>
            <a:srgbClr val="5C1A4A"/>
          </a:solidFill>
          <a:ln w="12700">
            <a:solidFill>
              <a:srgbClr val="5C1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303580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SICO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401568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1A4A"/>
                </a:solidFill>
              </a:rPr>
              <a:t>Contabilidad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877056"/>
            <a:ext cx="149961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Registra y produce EEFF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11680" y="3035808"/>
            <a:ext cx="1645920" cy="1755648"/>
          </a:xfrm>
          <a:prstGeom prst="rect">
            <a:avLst/>
          </a:prstGeom>
          <a:solidFill>
            <a:srgbClr val="F5E6F0"/>
          </a:solidFill>
          <a:ln w="12700">
            <a:solidFill>
              <a:srgbClr val="5C1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11680" y="3035808"/>
            <a:ext cx="1645920" cy="347472"/>
          </a:xfrm>
          <a:prstGeom prst="rect">
            <a:avLst/>
          </a:prstGeom>
          <a:solidFill>
            <a:srgbClr val="5C1A4A"/>
          </a:solidFill>
          <a:ln w="12700">
            <a:solidFill>
              <a:srgbClr val="5C1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303580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SIPRE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84832" y="3401568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1A4A"/>
                </a:solidFill>
              </a:rPr>
              <a:t>Presupuesto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84832" y="3877056"/>
            <a:ext cx="149961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Formulación y control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730752" y="3035808"/>
            <a:ext cx="1645920" cy="1755648"/>
          </a:xfrm>
          <a:prstGeom prst="rect">
            <a:avLst/>
          </a:prstGeom>
          <a:solidFill>
            <a:srgbClr val="F5E6F0"/>
          </a:solidFill>
          <a:ln w="12700">
            <a:solidFill>
              <a:srgbClr val="5C1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30752" y="3035808"/>
            <a:ext cx="1645920" cy="347472"/>
          </a:xfrm>
          <a:prstGeom prst="rect">
            <a:avLst/>
          </a:prstGeom>
          <a:solidFill>
            <a:srgbClr val="5C1A4A"/>
          </a:solidFill>
          <a:ln w="12700">
            <a:solidFill>
              <a:srgbClr val="5C1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0752" y="303580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03904" y="3401568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1A4A"/>
                </a:solidFill>
              </a:rPr>
              <a:t>Tesorería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03904" y="3877056"/>
            <a:ext cx="149961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Gestiona flujos de caja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49824" y="3035808"/>
            <a:ext cx="1645920" cy="1755648"/>
          </a:xfrm>
          <a:prstGeom prst="rect">
            <a:avLst/>
          </a:prstGeom>
          <a:solidFill>
            <a:srgbClr val="F5E6F0"/>
          </a:solidFill>
          <a:ln w="12700">
            <a:solidFill>
              <a:srgbClr val="5C1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49824" y="3035808"/>
            <a:ext cx="1645920" cy="347472"/>
          </a:xfrm>
          <a:prstGeom prst="rect">
            <a:avLst/>
          </a:prstGeom>
          <a:solidFill>
            <a:srgbClr val="5C1A4A"/>
          </a:solidFill>
          <a:ln w="12700">
            <a:solidFill>
              <a:srgbClr val="5C1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9824" y="303580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SIDEUDA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22976" y="3401568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1A4A"/>
                </a:solidFill>
              </a:rPr>
              <a:t>Deuda Pública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22976" y="3877056"/>
            <a:ext cx="149961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Préstamos y amortizaciones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168896" y="3035808"/>
            <a:ext cx="1645920" cy="1755648"/>
          </a:xfrm>
          <a:prstGeom prst="rect">
            <a:avLst/>
          </a:prstGeom>
          <a:solidFill>
            <a:srgbClr val="F5E6F0"/>
          </a:solidFill>
          <a:ln w="12700">
            <a:solidFill>
              <a:srgbClr val="5C1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68896" y="3035808"/>
            <a:ext cx="1645920" cy="347472"/>
          </a:xfrm>
          <a:prstGeom prst="rect">
            <a:avLst/>
          </a:prstGeom>
          <a:solidFill>
            <a:srgbClr val="5C1A4A"/>
          </a:solidFill>
          <a:ln w="12700">
            <a:solidFill>
              <a:srgbClr val="5C1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68896" y="303580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SIINV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42048" y="3401568"/>
            <a:ext cx="14996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1A4A"/>
                </a:solidFill>
              </a:rPr>
              <a:t>Inversión Pública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42048" y="3877056"/>
            <a:ext cx="149961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Ciclo de proyectos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01168" y="4919472"/>
            <a:ext cx="8942832" cy="219456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91947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</a:rPr>
              <a:t>M-AGP04  ·  Clase 3  ·  Gestión Pública y SIAF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E8A0BF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3152"/>
            <a:ext cx="8942832" cy="77724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✅  EJ. RESUELTO 1  —  Análisis de ejecución presupuestaria al 30/06 — MOPC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503920" cy="735178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87552"/>
            <a:ext cx="8229600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DATOS: Crédito vigente Gs. 1.280.000 MM · Comprometido Gs. 640.000 MM · Devengado Gs. 420.000 MM · Pagado Gs. 380.000 MM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731874"/>
            <a:ext cx="8503920" cy="735178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59306"/>
            <a:ext cx="8229600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PASO 1 — % de ejecución: Comprometido 50,0% (normal) · Devengado 32,8% (BAJO) · Pagado 29,7% (hay Gs. 40.000 MM devengados sin pagar).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503627"/>
            <a:ext cx="8503920" cy="735178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31059"/>
            <a:ext cx="8229600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PASO 2 — Brecha: Comprometido – Devengado = Gs. 220.000 MM con contratos firmados pero sin obra recibida aún.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3275381"/>
            <a:ext cx="8503920" cy="735178"/>
          </a:xfrm>
          <a:prstGeom prst="rect">
            <a:avLst/>
          </a:prstGeom>
          <a:solidFill>
            <a:srgbClr val="F1F8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02813"/>
            <a:ext cx="8229600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PASO 3 — Riesgo: Para llegar al 100% al 31/12 debe devengar el 67,2% restante en 6 meses → ritmo muy acelerado.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4047134"/>
            <a:ext cx="8503920" cy="735178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074566"/>
            <a:ext cx="8229600" cy="6803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✅ CONCLUSIÓN: Este análisis en tiempo real es posible gracias al SIAF. El contador público no solo registra — analiza y alerta.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01168" y="4919472"/>
            <a:ext cx="8942832" cy="219456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91947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</a:rPr>
              <a:t>M-AGP04  ·  Clase 3  ·  Gestión Pública y SIAF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E8A0BF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3152"/>
            <a:ext cx="8942832" cy="77724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📝  EJERCICIO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503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Acceda al portal de transparencia del MHCP (hacienda.gov.py → Ejecución Presupuestaria) y busque los datos de SU institución al cierre del último año: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a) ¿Cuál fue el crédito vigente total? ¿Cuánto se devengó? ¿Cuánto se pagó?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b) ¿Qué rubro tuvo la ejecución más BAJA? ¿Y la más ALTA?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c) ¿Hubo economías (diferencia entre crédito y devengado)? ¿A qué las atribuye?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d) ¿Qué le diría al Director de la institución si le pidiera un análisis en 3 minutos?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297680"/>
            <a:ext cx="8503920" cy="256032"/>
          </a:xfrm>
          <a:prstGeom prst="rect">
            <a:avLst/>
          </a:prstGeom>
          <a:solidFill>
            <a:srgbClr val="F5E6F0"/>
          </a:solidFill>
          <a:ln w="12700">
            <a:solidFill>
              <a:srgbClr val="5C1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297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1A4A"/>
                </a:solidFill>
              </a:rPr>
              <a:t>Resolución: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4919472"/>
            <a:ext cx="8942832" cy="219456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91947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</a:rPr>
              <a:t>M-AGP04  ·  Clase 3  ·  Gestión Pública y SIAF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E8A0BF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3152"/>
            <a:ext cx="8942832" cy="77724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📝  EJERCICIO 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503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Asigne cada operación al módulo del SIAF correcto (SICO / SIPRE / SITE / SIDEUDA / SIINV):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A: Municipalidad de San Lorenzo recibe desembolso de préstamo del CAF por USD 15 millones.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B: El Ministerio de Educación paga los sueldos de 45.000 docentes de octubre.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C: El SNIP aprueba la viabilidad técnica de un hospital regional en Concepción.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D: La SET deposita en el Tesoro los Gs. 850.000 MM recaudados en noviembre.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E: El MHCP aumenta en Gs. 12.000 MM la partida de combustibles del Ministerio de Defensa.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297680"/>
            <a:ext cx="8503920" cy="256032"/>
          </a:xfrm>
          <a:prstGeom prst="rect">
            <a:avLst/>
          </a:prstGeom>
          <a:solidFill>
            <a:srgbClr val="F5E6F0"/>
          </a:solidFill>
          <a:ln w="12700">
            <a:solidFill>
              <a:srgbClr val="5C1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297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1A4A"/>
                </a:solidFill>
              </a:rPr>
              <a:t>Resolución: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" y="4919472"/>
            <a:ext cx="8942832" cy="219456"/>
          </a:xfrm>
          <a:prstGeom prst="rect">
            <a:avLst/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91947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66573"/>
                </a:solidFill>
              </a:rPr>
              <a:t>M-AGP04  ·  Clase 3  ·  Gestión Pública y SIAF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C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8A0BF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E8A0BF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📋  TAREA POST-CLASE 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A0BF"/>
                </a:solidFill>
              </a:rPr>
              <a:t>Subir en Google Classroom antes de la próxima clase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694944"/>
          </a:xfrm>
          <a:prstGeom prst="rect">
            <a:avLst/>
          </a:prstGeom>
          <a:solidFill>
            <a:srgbClr val="1E3A5A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137160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0BF"/>
                </a:solidFill>
              </a:rPr>
              <a:t>DECRETO 8127/00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Lean los Arts. 31-80. Identifiquen los 3 artículos que más impactan en su trabajo contable.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075688"/>
            <a:ext cx="8412480" cy="694944"/>
          </a:xfrm>
          <a:prstGeom prst="rect">
            <a:avLst/>
          </a:prstGeom>
          <a:solidFill>
            <a:srgbClr val="1E3A5A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75688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🎤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560" y="212140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0BF"/>
                </a:solidFill>
              </a:rPr>
              <a:t>ENTREVISTA SIAF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Entrevisten a un compañero que use el SIAF: ¿cuál es el mayor problema? ¿Qué mejoraría?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825496"/>
            <a:ext cx="8412480" cy="694944"/>
          </a:xfrm>
          <a:prstGeom prst="rect">
            <a:avLst/>
          </a:prstGeom>
          <a:solidFill>
            <a:srgbClr val="1E3A5A"/>
          </a:solidFill>
          <a:ln w="12700">
            <a:solidFill>
              <a:srgbClr val="E8A0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25496"/>
            <a:ext cx="640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287121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0BF"/>
                </a:solidFill>
              </a:rPr>
              <a:t>AVANCE TFI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Redacten la Sección V del TFI: descripción de la institución (mínimo 2 páginas).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3 - Gestión Pública y SIAF</dc:title>
  <dc:subject>PptxGenJS Presentation</dc:subject>
  <dc:creator>PptxGenJS</dc:creator>
  <cp:lastModifiedBy>PptxGenJS</cp:lastModifiedBy>
  <cp:revision>1</cp:revision>
  <dcterms:created xsi:type="dcterms:W3CDTF">2026-03-13T20:35:21Z</dcterms:created>
  <dcterms:modified xsi:type="dcterms:W3CDTF">2026-03-13T20:35:21Z</dcterms:modified>
</cp:coreProperties>
</file>