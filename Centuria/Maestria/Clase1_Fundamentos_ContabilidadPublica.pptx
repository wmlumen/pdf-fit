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31520"/>
            <a:ext cx="1280160" cy="12801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FUNDAMENTOS DE LA CONTABILIDAD PÚBLICA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Y ECONOMÍA DEL SECTOR PÚBLICO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32918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227"/>
                </a:solidFill>
              </a:rPr>
              <a:t>Unidades I y II  ·  3 horas sincrónicas  ·  Google Meet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Maestría en Adm. y Gestión Pública  ·  M-AGP04  ·  Instituto Superior Centuria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📋  AGENDA DE LA CLASE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64008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51560" y="1005840"/>
            <a:ext cx="7772400" cy="640080"/>
          </a:xfrm>
          <a:prstGeom prst="rect">
            <a:avLst/>
          </a:prstGeom>
          <a:solidFill>
            <a:srgbClr val="EBF3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06070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BLOQUE 1  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¿Qué es la Contabilidad Pública?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566573"/>
                </a:solidFill>
              </a:rPr>
              <a:t>Definición · Propósito · Diferencias con la contabilidad privada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64008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51560" y="1783080"/>
            <a:ext cx="7772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183794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BLOQUE 2  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Principios de Contabilidad Pública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566573"/>
                </a:solidFill>
              </a:rPr>
              <a:t>Los 10 principios fundamentales con ejemplos paraguayos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64008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51560" y="2560320"/>
            <a:ext cx="7772400" cy="640080"/>
          </a:xfrm>
          <a:prstGeom prst="rect">
            <a:avLst/>
          </a:prstGeom>
          <a:solidFill>
            <a:srgbClr val="EBF3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61518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BLOQUE 3  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Economía del Sector Público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566573"/>
                </a:solidFill>
              </a:rPr>
              <a:t>Fallas de mercado · Funciones del Estado · PGN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64008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51560" y="3337560"/>
            <a:ext cx="7772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339242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BLOQUE 4  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El Ciclo Contable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566573"/>
                </a:solidFill>
              </a:rPr>
              <a:t>Documentos soporte · Etapas · Registro contable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114800"/>
            <a:ext cx="640080" cy="640080"/>
          </a:xfrm>
          <a:prstGeom prst="rect">
            <a:avLst/>
          </a:prstGeom>
          <a:solidFill>
            <a:srgbClr val="F4F6F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⬜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51560" y="4114800"/>
            <a:ext cx="7772400" cy="640080"/>
          </a:xfrm>
          <a:prstGeom prst="rect">
            <a:avLst/>
          </a:prstGeom>
          <a:solidFill>
            <a:srgbClr val="EBF3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416966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TAREA  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Diagnóstico preliminar de la institución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566573"/>
                </a:solidFill>
              </a:rPr>
              <a:t>Primer paso del Trabajo Final de Investigación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1  ·  Fundamentos de la Contabilidad Pública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6B"/>
                </a:solidFill>
              </a:rPr>
              <a:t>BLOQUE 1  —  ¿QUÉ ES LA CONTABILIDAD PÚBLICA?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66573"/>
                </a:solidFill>
              </a:rPr>
              <a:t>Definición · Propósito · Diferencias con el sector privado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¿Qué es la Contabilidad Pública?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</a:rPr>
              <a:t>Imaginemos por un momento que el Estado es una empresa gigante...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85039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813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📌  DEFINICIÓN FORMAL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8503920" cy="932688"/>
          </a:xfrm>
          <a:prstGeom prst="rect">
            <a:avLst/>
          </a:prstGeom>
          <a:solidFill>
            <a:srgbClr val="EBF3FC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865376"/>
            <a:ext cx="82844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La Contabilidad Pública es el subsistema de la Administración Financiera del Estado que registra, clasifica, procesa y comunica todos los hechos económico-financieros que afectan el patrimonio del Sector Público, con el propósito de producir información confiable, oportuna y comparable para la gestión, el control y la rendición de cuentas ante la ciudadanía. (Ley 1535/99, Art. 59)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907792"/>
            <a:ext cx="2011680" cy="1691640"/>
          </a:xfrm>
          <a:prstGeom prst="rect">
            <a:avLst/>
          </a:prstGeom>
          <a:solidFill>
            <a:srgbClr val="D6E4F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907792"/>
            <a:ext cx="201168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9077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28416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Cada transacción del Estado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2907792"/>
            <a:ext cx="2011680" cy="1691640"/>
          </a:xfrm>
          <a:prstGeom prst="rect">
            <a:avLst/>
          </a:prstGeom>
          <a:solidFill>
            <a:srgbClr val="D6E4F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2907792"/>
            <a:ext cx="201168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9077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CLASIFICA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3328416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Según el Plan de Cuentas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907792"/>
            <a:ext cx="2011680" cy="1691640"/>
          </a:xfrm>
          <a:prstGeom prst="rect">
            <a:avLst/>
          </a:prstGeom>
          <a:solidFill>
            <a:srgbClr val="D6E4F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907792"/>
            <a:ext cx="201168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9077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328416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Consolida información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2907792"/>
            <a:ext cx="2011680" cy="1691640"/>
          </a:xfrm>
          <a:prstGeom prst="rect">
            <a:avLst/>
          </a:prstGeom>
          <a:solidFill>
            <a:srgbClr val="D6E4F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2907792"/>
            <a:ext cx="201168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9077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COMUNICA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328416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Cuenta General del Ejercicio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1  ·  Fundamentos de la Contabilidad Pública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4980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✏️  EJEMPLO 1  —  ¿Por qué el Estado necesita Contabilidad Pública?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950976"/>
            <a:ext cx="850392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5631"/>
                </a:solidFill>
              </a:rPr>
              <a:t>📋 SITUACIÓN 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El Ministerio de Salud recibe Gs. 500.000 millones de presupuesto. Al final del ejercicio el Ministro debe responder: ¿Cuánto se gastó? ¿En qué? ¿Queda saldo?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14400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9339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5631"/>
                </a:solidFill>
              </a:rPr>
              <a:t>❌ SIN C. PÚBLICA 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El Ministro no puede responder. La información está en planillas separadas, sin consolidar. El Congreso no puede controlar.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889504"/>
            <a:ext cx="850392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6265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5631"/>
                </a:solidFill>
              </a:rPr>
              <a:t>✅ CON C. PÚBLICA 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El SIAF registra en tiempo real: Gs. 320.000 MM en medicamentos · Gs. 150.000 MM en personal · Gs. 30.000 MM disponibles.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858768"/>
            <a:ext cx="8503920" cy="914400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5631"/>
                </a:solidFill>
              </a:rPr>
              <a:t>🎯 CONCLUSIÓN 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La Contabilidad Pública no es burocracia — es el instrumento que hace posible la DEMOCRACIA FISCAL.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1  ·  Fundamentos de la Contabilidad Pública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Diferencias entre Contabilidad Pública y Privada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Contabilidad Privada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Contabilidad Pública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Objetivo principal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Determinar la ganancia/pérdida del ejercicio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Rendir cuentas, controlar el uso de recursos públicos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Propietario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Accionistas o socios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La ciudadanía (contribuyentes)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Fin de la actividad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Lucro — maximizar el retorno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Bien común — satisfacer necesidades colectivas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Base de registro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Base devengada (NIIF)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Base devengada + caja según módulo del SIAF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Marco normativo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NIIF, NIIF para PYMES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Ley 1535/99, Decreto 8127/00, NICSP, Plan de Cuentas MHCP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Control externo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Auditores independientes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Contraloría General de la República + Congreso Nacional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Presupuesto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Herramienta de gestión interna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Instrumento legal — su incumplimiento es falta grave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1  ·  Fundamentos de la Contabilidad Pública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6B"/>
                </a:solidFill>
              </a:rPr>
              <a:t>BLOQUE 2  —  PRINCIPIOS DE CONTABILIDAD PÚBLICA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66573"/>
                </a:solidFill>
              </a:rPr>
              <a:t>Los 10 principios fundamentales con ejemplos paraguayos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Los 10 Principios de la Contabilidad Pública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63040"/>
                <a:gridCol w="3200400"/>
                <a:gridCol w="3566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Principio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Definición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Ejemplo Paraguay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ENTIDAD CONTABLE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El Estado registra separado de sus funcionarios.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La casa del Ministro ≠ patrimonio del Ministerio.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PERÍODO CONTABLE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Operaciones en el período al que corresponden.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Factura de diciembre → se imputa en diciembre aunque pague en enero.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BASE DEVENGADA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Se registra cuando ocurre, no cuando se cobra.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Sueldos de diciembre: se registran en diciembre aunque se paguen el 5 de enero.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PRUDENCIA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Reconocer pérdidas probables, no ganancias inciertas.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Demanda judicial probable → provisionar el monto.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CONSISTENCIA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Mismos criterios de un ejercicio al siguiente.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No puede cambiar el método de valuación de inmuebles cada año.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EXPOSICIÓN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EEFF deben contener toda la info necesaria.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Notas que expliquen el método de valuación de bonos del tesoro.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UNIFORMIDAD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Criterios iguales entre organismos del Estado.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Todos los Ministerios deben usar el mismo Plan de Cuentas del MHCP.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IMPORTANCIA RELATIVA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Simplificar hechos de escasa significación.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Compra de biromes → gasto directo sin activación detallada.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BIEN COMÚN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La contabilidad sirve al interés general.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Info financiera del Estado: debe publicarse para todos los ciudadanos.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VALUACIÓN AL COSTO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Bienes se registran al costo de adquisición.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Edificio comprado por Gs. 2.000 MM en 2010 → figura a ese valor.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1  ·  Fundamentos de la Contabilidad Pública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4980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✅  EJERCICIO RESUELTO 1  —  Identificar el principio violado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📋 SITUACIÓN: El Ministerio de Educación recibió el 15 de diciembre computadoras por Gs. 25.000 MM. El Contador registró el gasto en enero porque «el pago se hará en enero».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8503920" cy="731520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64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1️⃣ IDENTIFICAR EL HECHO: Las computadoras llegaron y se usaron en diciembre. El Estado ya tiene la obligación de pago desde diciembre.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496312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420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2️⃣ PRINCIPIO VIOLADO: BASE DEVENGADA — El gasto debe registrarse cuando ocurre (diciembre), no cuando se paga (enero).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273552"/>
            <a:ext cx="8503920" cy="731520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192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3️⃣ CONSECUENCIA: Los EEFF de diciembre subestimarán el gasto en Gs. 25.000 MM. La CGR puede observar esto en auditoría.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4050792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965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4️⃣ ASIENTO CORRECTO (diciembre): Déb. Gastos de Capital — Equipos Informáticos Gs. 25.000 MM / Cred. Cuentas por Pagar Gs. 25.000 MM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1  ·  Fundamentos de la Contabilidad Pública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82296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📝  EJERCICIO 1  —  Para resolver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503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</a:rPr>
              <a:t>Pensando en la institución pública donde usted trabaja o conoce: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</a:rPr>
              <a:t>a) ¿Cuál sería el equivalente al 'resultado del ejercicio' más relevante para el ciudadano?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</a:rPr>
              <a:t>b) ¿Qué información contable de su institución es pública y dónde se publica?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</a:rPr>
              <a:t>c) ¿Considera que esa información es suficiente para que un ciudadano comprenda cómo se usaron los recursos? Justifique.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</a:rPr>
              <a:t>d) Identifique UN principio que su institución aplica bien y UNO que considera deficiente. Dé ejemplos concretos.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4297680"/>
            <a:ext cx="8503920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297680"/>
            <a:ext cx="850392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Respuesta: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1  ·  Fundamentos de la Contabilidad Pública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6B"/>
                </a:solidFill>
              </a:rPr>
              <a:t>BLOQUE 3  —  ECONOMÍA DEL SECTOR PÚBLICO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66573"/>
                </a:solidFill>
              </a:rPr>
              <a:t>Fallas de mercado · Funciones del Estado · Presupuesto General de la Nación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Las 3 Funciones Económicas del Estado — Musgrave (1959)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92608" y="914400"/>
            <a:ext cx="281635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914400"/>
            <a:ext cx="2816352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FUNCIÓN ASIGNATIVA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325880"/>
            <a:ext cx="2816352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32588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6B"/>
                </a:solidFill>
              </a:rPr>
              <a:t>DEFINICIÓN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600200"/>
            <a:ext cx="2633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El Estado provee bienes y servicios que el mercado no provee o sub-provee.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2633472"/>
            <a:ext cx="2816352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63347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6B"/>
                </a:solidFill>
              </a:rPr>
              <a:t>EJEMPLO PARAGUAY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2907792"/>
            <a:ext cx="263347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D1B2A"/>
                </a:solidFill>
              </a:rPr>
              <a:t>ANDE provee electricidad a zonas rurales no rentables para una empresa privada. MSPBS provee salud gratuita en hospitales nacionales.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36976" y="914400"/>
            <a:ext cx="281635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36976" y="914400"/>
            <a:ext cx="2816352" cy="4114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36976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39896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FUNCIÓN DISTRIBUTIVA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36976" y="1325880"/>
            <a:ext cx="2816352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6976" y="132588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6B"/>
                </a:solidFill>
              </a:rPr>
              <a:t>DEFINICIÓN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28416" y="1600200"/>
            <a:ext cx="2633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El Estado redistribuye el ingreso para reducir la desigualdad social.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36976" y="2633472"/>
            <a:ext cx="2816352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263347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6B"/>
                </a:solidFill>
              </a:rPr>
              <a:t>EJEMPLO PARAGUAY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28416" y="2907792"/>
            <a:ext cx="263347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D1B2A"/>
                </a:solidFill>
              </a:rPr>
              <a:t>IVA, IRE, IRP recaudan impuestos. Tekoporã, becas BECAL, pensión alimentaria transfieren recursos a sectores vulnerables.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1344" y="914400"/>
            <a:ext cx="281635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4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914400"/>
            <a:ext cx="2816352" cy="41148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684264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FUNCIÓN ESTABILIZADORA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81344" y="1325880"/>
            <a:ext cx="2816352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132588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6B"/>
                </a:solidFill>
              </a:rPr>
              <a:t>DEFINICIÓN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72784" y="1600200"/>
            <a:ext cx="2633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El Estado regula la economía para evitar alta inflación o desempleo.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81344" y="2633472"/>
            <a:ext cx="2816352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263347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6B"/>
                </a:solidFill>
              </a:rPr>
              <a:t>EJEMPLO PARAGUAY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72784" y="2907792"/>
            <a:ext cx="263347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D1B2A"/>
                </a:solidFill>
              </a:rPr>
              <a:t>BCP maneja la política monetaria. MHCP controla el gasto público para no generar déficit fiscal excesivo.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1  ·  Fundamentos de la Contabilidad Pública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6B"/>
                </a:solidFill>
              </a:rPr>
              <a:t>BLOQUE 4  —  EL CICLO CONTABLE EN EL SECTOR PÚBLICO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66573"/>
                </a:solidFill>
              </a:rPr>
              <a:t>Del documento soporte al Estado Financiero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Las 9 Etapas del Ciclo Contable — Sector Público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489204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Etapa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Descripción / Ejemplo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Documento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Hecho económico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MOPC firma contrato de ruta 7 por Gs. 50.000 MM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Contrato DNCP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Documento soporte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Se recibe contrato + garantía + acta de inicio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Contrato + Acta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Clasificación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Cuenta: Construcciones en proceso / Etapa: Compromiso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Plan de Cuentas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Compromiso (SIPRE)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Se reservan Gs. 50.000 MM del crédito presupuestario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Módulo SIPRE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Devengamiento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Certificado de avance Gs. 10.000 MM → nace la deuda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Acta de avance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Pago (SITE)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Tesorería transfiere fondos a la empresa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Orden de Pago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Cierre mensual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DGCP consolida info de todos los organismos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Informe mensual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Estados Financieros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Al 31/12: Situación Patrimonial + Rendimiento Financiero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Cuenta Gral. Ejercicio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Presentación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Congreso Nacional + Contraloría General de la República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Ley 1535/99 Art. 65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1  ·  Fundamentos de la Contabilidad Pública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4980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✅  EJERCICIO RESUELTO 2  —  Ciclo contable Municipalidad de Luque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📋 SITUACIÓN: Municipalidad de Luque compra 10 camiones recolectores por Gs. 18.000 MM. En marzo adjudica, en agosto llegan los camiones, en septiembre se paga.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8503920" cy="731520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64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1️⃣ COMPROMISO (marzo): Débito Compromiso Presupuestario Gs. 18.000 MM / Crédito Crédito Comprometido Gs. 18.000 MM → Fondos reservados.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496312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420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2️⃣ DEVENGAMIENTO (agosto — llegada camiones): Débito Vehículos y Equipos Gs. 18.000 MM / Crédito Cuentas por Pagar Proveedores Gs. 18.000 MM → Camiones entran al patrimonio.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273552"/>
            <a:ext cx="8503920" cy="731520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192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3️⃣ PAGO (septiembre): Débito Cuentas por Pagar Proveedores Gs. 18.000 MM / Crédito Banco — Cta. Cte. Municipal Gs. 18.000 MM → Deuda cancelada.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4050792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965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✅ VERIFICACIÓN 31/12: Balance muestra 10 camiones en activo. Deuda = 0. Presupuesto de capital ejecutado al 100%.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1  ·  Fundamentos de la Contabilidad Pública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82296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📝  EJERCICIO 2  —  Para resolver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503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</a:rPr>
              <a:t>El Ministerio de Agricultura (MAG) tiene Gs. 6.000 MM para comprar semillas. En febrero llama a licitación. En mayo adjudica por Gs. 5.200 MM a AGRO S.A. En julio llega el 50% de las semillas y se paga ese 50%. En octubre llega el resto y se paga en noviembre.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</a:rPr>
              <a:t>Registre contablemente cada etapa: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</a:rPr>
              <a:t>a) Compromiso total (mayo)   b) Devengamiento del 50% (julio)   c) Pago del 50% (julio)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</a:rPr>
              <a:t>d) Devengamiento del 50% restante (octubre)   e) Pago final (noviembre)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</a:rPr>
              <a:t>f) ¿Qué % del crédito original se ejecutó al 31 de diciembre?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4297680"/>
            <a:ext cx="8503920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297680"/>
            <a:ext cx="850392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Respuesta: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1  ·  Fundamentos de la Contabilidad Pública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📋  TAREA POST-CLASE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227"/>
                </a:solidFill>
              </a:rPr>
              <a:t>"Diagnóstico Contable-Financiero Preliminar de Mi Institución"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62763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INSTITUCIÓN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Nombre, misión, tipo y presupuesto aproximado anual en guaraníes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22576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22576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3774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ACCESO AL SIAF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¿Usa el SIAF? ¿Tiene acceso a los EEFF? ¿Dónde los encontraría?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72384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72384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312724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PRINCIPIOS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 principio bien aplicado + UN principio deficiente (con ejemplos concretos)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822192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22192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87705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PREGUNTA TFI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Formule la pregunta central de su Trabajo Final de Investigación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</a:rPr>
              <a:t>📅 Formato: Word/PDF · Máx. 2 páginas · Entregar antes de la Clase 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1097280"/>
            <a:ext cx="146304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6B"/>
                </a:solidFill>
              </a:rPr>
              <a:t>✅  AUTOEVALUACIÓN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7772400" cy="475488"/>
          </a:xfrm>
          <a:prstGeom prst="rect">
            <a:avLst/>
          </a:prstGeom>
          <a:solidFill>
            <a:srgbClr val="EBF3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B"/>
                </a:solidFill>
              </a:rPr>
              <a:t>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0848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¿Puedo explicar con mis palabras la diferencia entre contabilidad pública y privada?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87752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877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B"/>
                </a:solidFill>
              </a:rPr>
              <a:t>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1518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¿Identifico los 10 principios y puedo dar un ejemplo de cada uno?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18104"/>
            <a:ext cx="7772400" cy="475488"/>
          </a:xfrm>
          <a:prstGeom prst="rect">
            <a:avLst/>
          </a:prstGeom>
          <a:solidFill>
            <a:srgbClr val="EBF3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1810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B"/>
                </a:solidFill>
              </a:rPr>
              <a:t>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145536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¿Comprendo la diferencia entre compromiso, devengamiento y pago?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48456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4845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B"/>
                </a:solidFill>
              </a:rPr>
              <a:t>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67588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¿Puedo relacionar las 3 funciones del Estado con la contabilidad pública?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78808"/>
            <a:ext cx="7772400" cy="475488"/>
          </a:xfrm>
          <a:prstGeom prst="rect">
            <a:avLst/>
          </a:prstGeom>
          <a:solidFill>
            <a:srgbClr val="EBF3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7880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B"/>
                </a:solidFill>
              </a:rPr>
              <a:t>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2062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¿Tengo clara la institución que analizaré en mi Trabajo Final?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Maestría en Adm. y Gestión Pública  ·  M-AGP04  ·  Instituto Superior Centuria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1 - Fundamentos de la Contabilidad Pública</dc:title>
  <dc:subject>PptxGenJS Presentation</dc:subject>
  <dc:creator>PptxGenJS</dc:creator>
  <cp:lastModifiedBy>PptxGenJS</cp:lastModifiedBy>
  <cp:revision>1</cp:revision>
  <dcterms:created xsi:type="dcterms:W3CDTF">2026-03-13T20:31:02Z</dcterms:created>
  <dcterms:modified xsi:type="dcterms:W3CDTF">2026-03-13T20:31:02Z</dcterms:modified>
</cp:coreProperties>
</file>