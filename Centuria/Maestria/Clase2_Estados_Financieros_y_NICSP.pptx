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9D923"/>
          </a:solidFill>
          <a:ln w="12700">
            <a:solidFill>
              <a:srgbClr val="F9D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9D923"/>
          </a:solidFill>
          <a:ln w="12700">
            <a:solidFill>
              <a:srgbClr val="F9D9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85800"/>
            <a:ext cx="1325880" cy="1325880"/>
          </a:xfrm>
          <a:prstGeom prst="ellipse">
            <a:avLst/>
          </a:prstGeom>
          <a:solidFill>
            <a:srgbClr val="F9D923"/>
          </a:solidFill>
          <a:ln w="12700">
            <a:solidFill>
              <a:srgbClr val="F9D9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0"/>
            <a:ext cx="1325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Estados Financieros y NICSP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33832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9D923"/>
                </a:solidFill>
              </a:rPr>
              <a:t>Normas Internacionales de Contabilidad del Sector Público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39776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Unidades III y VII  ·  3 horas sincrónicas  ·  Google Meet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46634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Maestría en Adm. y Gestión Pública  ·  M-AGP04  ·  Instituto Superior Centuria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4ED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1371600"/>
            <a:ext cx="2743200" cy="73152"/>
          </a:xfrm>
          <a:prstGeom prst="rect">
            <a:avLst/>
          </a:prstGeom>
          <a:solidFill>
            <a:srgbClr val="F9D923"/>
          </a:solidFill>
          <a:ln w="12700">
            <a:solidFill>
              <a:srgbClr val="F9D9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5631"/>
                </a:solidFill>
              </a:rPr>
              <a:t>BLOQUE 1  —  ESTADOS FINANCIEROS DEL SECTOR PÚBLICO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66573"/>
                </a:solidFill>
              </a:rPr>
              <a:t>Los 5 estados financieros y el balance del Estado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F9D923"/>
          </a:solidFill>
          <a:ln w="12700">
            <a:solidFill>
              <a:srgbClr val="F9D9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77724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Los 5 Estados Financieros del Sector Público Paraguayo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749040"/>
                <a:gridCol w="2286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Estado Financiero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¿Qué muestra?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¿A quién le sirve principalmente?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1. Estado de Situación Patrimonial (Balance)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Activos, pasivos y patrimonio del Estado al cierre del ejercicio.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Congreso, Contraloría, organismos internacionales (FMI, BID).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2. Estado de Rendimiento Financiero (Resultados)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Ingresos y gastos del período: superávit o déficit.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Ministerio de Hacienda, ciudadanía, analistas fiscales.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3. Estado de Cambios en el Patrimonio Neto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Cómo varió el patrimonio del Estado durante el año.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Especialistas en finanzas públicas, DGCP.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4. Estado de Flujo de Efectivo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Entradas y salidas reales de caja del Estado.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Tesorería General, BCP, organismos de crédito.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5. Notas a los Estados Financieros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Información que explica y complementa los 4 estados anteriores.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Todos los usuarios — dan el contexto para interpretar los números.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2  ·  Estados Financieros y NICSP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F9D923"/>
          </a:solidFill>
          <a:ln w="12700">
            <a:solidFill>
              <a:srgbClr val="F9D9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77724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Componentes del Balance del Estado Paraguayo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84048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Componente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¿Qué incluye?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Ejemplo concreto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ACTIVO CORRIENTE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Efectivo en BCP, cuentas por cobrar a menos de 1 año, inversiones a corto plazo.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Impuestos recaudados en dic. depositados en enero. Letras de regulación del BCP.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ACTIVO NO CORRIENTE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Bienes duraderos: inmuebles, equipos, infraestructura, inversiones en emp. públicas.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Edificio del MHCP, vehículos del Ejército, rutas del MOPC, acciones en ANDE y ESSAP.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PASIVO CORRIENTE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Deudas a vencer en menos de 1 año: sueldos pendientes, facturas aprobadas.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Sueldos de diciembre que se pagan en enero. Facturas devengadas pendientes de pago al 31/12.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PASIVO NO CORRIENTE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Deuda pública a largo plazo: bonos del tesoro, préstamos BID, BM, CAF, FONPLATA.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Préstamo BID para proyecto de agua potable de ESSAP. Bonos soberanos en el mercado internacional.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PATRIMONIO NETO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Diferencia entre activo y pasivo. Valor neto que posee la sociedad a través del Estado.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Activos Gs. 200 BB – Deudas Gs. 80 BB = Patrimonio Neto Gs. 120 BB.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2  ·  Estados Financieros y NICSP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4ED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1371600"/>
            <a:ext cx="2743200" cy="73152"/>
          </a:xfrm>
          <a:prstGeom prst="rect">
            <a:avLst/>
          </a:prstGeom>
          <a:solidFill>
            <a:srgbClr val="F9D923"/>
          </a:solidFill>
          <a:ln w="12700">
            <a:solidFill>
              <a:srgbClr val="F9D9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5631"/>
                </a:solidFill>
              </a:rPr>
              <a:t>BLOQUE 2  —  LAS NICSP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66573"/>
                </a:solidFill>
              </a:rPr>
              <a:t>Normas Internacionales de Contabilidad del Sector Público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F9D923"/>
          </a:solidFill>
          <a:ln w="12700">
            <a:solidFill>
              <a:srgbClr val="F9D9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77724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Las 5 NICSP más Relevantes para Paraguay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463040"/>
                <a:gridCol w="2926080"/>
                <a:gridCol w="3474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NICSP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Tema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¿Qué establece?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Aplicación Paraguay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NICSP 1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Presentación de EEFF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Requisitos mínimos para la presentación de estados financieros.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Base de la estructura de la Cuenta General del Ejercicio del MHCP.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NICSP 17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Propiedad, Planta y Equipo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Cómo registrar, depreciar y dar de baja activos físicos.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Desafío histórico: inventario de bienes del Estado incompleto y mal valuado.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NICSP 19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Provisiones y Pasivos Contingentes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Cuándo y cómo reconocer obligaciones inciertas (juicios, garantías).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Demandas judiciales contra el Estado: pasivo contingente significativo.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NICSP 23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Ingresos sin Contraprestación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Cómo registrar los ingresos tributarios (impuestos).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IVA, IRE e IRP que recauda la SET deben registrarse conforme a esta norma.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NICSP 2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Estado de Flujo de Efectivo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Formato y clasificación de los flujos de efectivo del gobierno.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La Tesorería General usa esta norma para reportar movimientos del Tesoro.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2  ·  Estados Financieros y NICSP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F9D923"/>
          </a:solidFill>
          <a:ln w="12700">
            <a:solidFill>
              <a:srgbClr val="F9D9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77724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✅  EJ. RESUELTO 1  —  Depreciación de activos — NICSP 17 — Ministerio de Salud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503920" cy="735178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8229600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SITUACIÓN: Tomógrafo comprado en enero 2020 por Gs. 4.500 MM. Vida útil: 10 años. Valor residual: Gs. 500 MM. Método: línea recta.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731874"/>
            <a:ext cx="8503920" cy="73517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59306"/>
            <a:ext cx="8229600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PASO 1 — Cuota anual = (4.500 – 500) / 10 = Gs. 400 MM por año.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503627"/>
            <a:ext cx="8503920" cy="735178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1059"/>
            <a:ext cx="8229600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PASO 2 — Valor en libros al 31/12/2024 (5 años): Dep. acum. = 400 × 5 = Gs. 2.000 MM → Valor neto = 4.500 – 2.000 = Gs. 2.500 MM.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275381"/>
            <a:ext cx="8503920" cy="73517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02813"/>
            <a:ext cx="8229600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PASO 3 — Asiento 31/12/2024: Déb. Gasto por depreciación Equipos Médicos Gs. 400 MM / Cred. Depreciación Acumulada Equipos Médicos Gs. 400 MM.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4047134"/>
            <a:ext cx="8503920" cy="735178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074566"/>
            <a:ext cx="8229600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✅ SIN depreciación: el Estado sobreestimaría su patrimonio y los EEFF no mostrarían el costo real de operar el hospital.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2  ·  Estados Financieros y NICSP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F9D923"/>
          </a:solidFill>
          <a:ln w="12700">
            <a:solidFill>
              <a:srgbClr val="F9D9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77724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Las 4 Características Cualitativas de la Información Pública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2286000"/>
                <a:gridCol w="23774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Característica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Definición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Si NO se cumple…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Nivel en Paraguay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COMPRENSIBILIDAD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Info entendible para usuarios con conocimiento razonable.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Existe pero nadie puede usarla para decidir.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Parcial — falta interpretación narrativa.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RELEVANCIA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Debe influir en decisiones: oportuna y con valor predictivo.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EEFF son dato histórico que no cambia ninguna decisión.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Buena — datos con 30-45 días de retraso.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FIABILIDAD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Representa fielmente la realidad, neutral y sin errores.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EEFF no reflejan la realidad — generan decisiones erradas.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Observada por CGR: valuación de activos con inconsistencias.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COMPARABILIDAD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Comparable con períodos anteriores y entidades similares.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No se puede evaluar si la gestión mejoró o empeoró.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Mejoró con el SIAF pero cambios de clasificación dificultan comparaciones.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2  ·  Estados Financieros y NICSP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F9D923"/>
          </a:solidFill>
          <a:ln w="12700">
            <a:solidFill>
              <a:srgbClr val="F9D9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77724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📝  EJERCICIO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503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Gobernación de Itapúa — construya el balance al 31/12 (en millones de guaraníes):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Efectivo: Gs. 1.250 MM  ·  Vehículos netos: Gs. 3.800 MM  ·  Equipos informáticos: Gs. 420 MM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Edificio sede: Gs. 12.000 MM  ·  Sueldos pendientes dic.: Gs. 980 MM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Préstamo a 5 años: Gs. 8.500 MM  ·  Facturas pendientes: Gs. 1.340 MM  ·  IVA a remitir: Gs. 280 MM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a) Clasifique cada rubro en activo corriente, no corriente, pasivo corriente, no corriente y patrimonio neto.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b) Calcule el Patrimonio Neto. ¿Es positivo o negativo? ¿Qué significa?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c) Si vehículos tienen costo original Gs. 5.200 MM, ¿cuánto es la depreciación acumulada?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297680"/>
            <a:ext cx="8503920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97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631"/>
                </a:solidFill>
              </a:rPr>
              <a:t>Resolución: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2  ·  Estados Financieros y NICSP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5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9D923"/>
          </a:solidFill>
          <a:ln w="12700">
            <a:solidFill>
              <a:srgbClr val="F9D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9D923"/>
          </a:solidFill>
          <a:ln w="12700">
            <a:solidFill>
              <a:srgbClr val="F9D9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📋  TAREA POST-CLASE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9D923"/>
                </a:solidFill>
              </a:rPr>
              <a:t>Subir en Google Classroom antes de la próxima clase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694944"/>
          </a:xfrm>
          <a:prstGeom prst="rect">
            <a:avLst/>
          </a:prstGeom>
          <a:solidFill>
            <a:srgbClr val="1E3A5A"/>
          </a:solidFill>
          <a:ln w="12700">
            <a:solidFill>
              <a:srgbClr val="F9D9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13716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D923"/>
                </a:solidFill>
              </a:rPr>
              <a:t>CUENTA GENERAL DEL EJERCICIO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Descargue del portal del MHCP el último informe disponible y analice.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075688"/>
            <a:ext cx="8412480" cy="694944"/>
          </a:xfrm>
          <a:prstGeom prst="rect">
            <a:avLst/>
          </a:prstGeom>
          <a:solidFill>
            <a:srgbClr val="1E3A5A"/>
          </a:solidFill>
          <a:ln w="12700">
            <a:solidFill>
              <a:srgbClr val="F9D9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75688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560" y="212140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D923"/>
                </a:solidFill>
              </a:rPr>
              <a:t>BALANCE DEL ESTADO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Identifique los 5 activos de mayor valor. ¿Están correctamente depreciados?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825496"/>
            <a:ext cx="8412480" cy="694944"/>
          </a:xfrm>
          <a:prstGeom prst="rect">
            <a:avLst/>
          </a:prstGeom>
          <a:solidFill>
            <a:srgbClr val="1E3A5A"/>
          </a:solidFill>
          <a:ln w="12700">
            <a:solidFill>
              <a:srgbClr val="F9D9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25496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287121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D923"/>
                </a:solidFill>
              </a:rPr>
              <a:t>RESULTADO FINANCIERO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¿Hubo superávit o déficit? ¿A cuánto ascendió? ¿A qué se debe?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575304"/>
            <a:ext cx="8412480" cy="694944"/>
          </a:xfrm>
          <a:prstGeom prst="rect">
            <a:avLst/>
          </a:prstGeom>
          <a:solidFill>
            <a:srgbClr val="1E3A5A"/>
          </a:solidFill>
          <a:ln w="12700">
            <a:solidFill>
              <a:srgbClr val="F9D9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575304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362102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D923"/>
                </a:solidFill>
              </a:rPr>
              <a:t>PASIVOS CONTINGENTES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¿Incluye demandas judiciales? ¿Le parece suficiente la revelación?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2 - Estados Financieros y NICSP</dc:title>
  <dc:subject>PptxGenJS Presentation</dc:subject>
  <dc:creator>PptxGenJS</dc:creator>
  <cp:lastModifiedBy>PptxGenJS</cp:lastModifiedBy>
  <cp:revision>1</cp:revision>
  <dcterms:created xsi:type="dcterms:W3CDTF">2026-03-13T20:35:21Z</dcterms:created>
  <dcterms:modified xsi:type="dcterms:W3CDTF">2026-03-13T20:35:21Z</dcterms:modified>
</cp:coreProperties>
</file>