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Material de Apoyo: Asignatura 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Instituto Superior Centuria</a:t>
            </a:r>
          </a:p>
          <a:p>
            <a:r>
              <a:t>Resumen Directivo de las 12 Clases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1: Introducción a las TIC y la Evolución Digital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Conceptos Fundamentales</a:t>
            </a:r>
          </a:p>
          <a:p>
            <a:pPr lvl="1">
              <a:defRPr sz="1800"/>
            </a:pPr>
            <a:r>
              <a:t>Gestión y transmisión de información.</a:t>
            </a:r>
          </a:p>
          <a:p>
            <a:pPr lvl="1">
              <a:defRPr sz="1800"/>
            </a:pPr>
            <a:r>
              <a:t>3 Pilares: Almacenamiento, Procesamiento y Transmisión.</a:t>
            </a:r>
          </a:p>
          <a:p>
            <a:pPr lvl="1">
              <a:defRPr sz="1800"/>
            </a:pPr>
            <a:r>
              <a:t>Inmaterialidad: De lo físico a la nube.</a:t>
            </a:r>
          </a:p>
          <a:p>
            <a:pPr lvl="1">
              <a:defRPr sz="1800"/>
            </a:pPr>
            <a:r>
              <a:t>Instantaneidad: Decisiones a la velocidad de la luz.</a:t>
            </a:r>
          </a:p>
          <a:p>
            <a:pPr lvl="1">
              <a:defRPr sz="1800"/>
            </a:pPr>
            <a:r>
              <a:t>Interactividad: Comunicación bidireccional.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El Espejismo Tecnológico</a:t>
            </a:r>
          </a:p>
          <a:p>
            <a:pPr lvl="1">
              <a:defRPr sz="1800"/>
            </a:pPr>
            <a:r>
              <a:t>Teoría de Illescas y Canese.</a:t>
            </a:r>
          </a:p>
          <a:p>
            <a:pPr lvl="1">
              <a:defRPr sz="1800"/>
            </a:pPr>
            <a:r>
              <a:t>Comprar hardware sin cambiar el método no es innovar.</a:t>
            </a:r>
          </a:p>
          <a:p>
            <a:pPr lvl="1">
              <a:defRPr sz="1800"/>
            </a:pPr>
            <a:r>
              <a:t>La tecnología debe obligar a rediseñar el proceso.</a:t>
            </a:r>
          </a:p>
          <a:p>
            <a:pPr lvl="1">
              <a:defRPr sz="1800"/>
            </a:pPr>
            <a:r>
              <a:t>Ej: Usar Excel solo para imprimir planillas es un fracaso digital.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Globalización y Brecha</a:t>
            </a:r>
          </a:p>
          <a:p>
            <a:pPr lvl="1">
              <a:defRPr sz="1800"/>
            </a:pPr>
            <a:r>
              <a:t>Deslocalización corporativa gracias a las TIC.</a:t>
            </a:r>
          </a:p>
          <a:p>
            <a:pPr lvl="1">
              <a:defRPr sz="1800"/>
            </a:pPr>
            <a:r>
              <a:t>La brecha digital como factor de exclusión competitiva (Falta de red o alfabetización digital).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2: Sistemas ERP y CRM: La Columna Vertebral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2 -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ERP (Planificación de Recursos)</a:t>
            </a:r>
          </a:p>
          <a:p>
            <a:pPr lvl="1">
              <a:defRPr sz="1800"/>
            </a:pPr>
            <a:r>
              <a:t>Integración total de la empresa (Ventas, RRHH, Finanzas).</a:t>
            </a:r>
          </a:p>
          <a:p>
            <a:pPr lvl="1">
              <a:defRPr sz="1800"/>
            </a:pPr>
            <a:r>
              <a:t>Elimina los 'silos' de información.</a:t>
            </a:r>
          </a:p>
          <a:p>
            <a:pPr lvl="1">
              <a:defRPr sz="1800"/>
            </a:pPr>
            <a:r>
              <a:t>Base de datos centralizada única en tiempo real.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CRM (Gestión de Clientes)</a:t>
            </a:r>
          </a:p>
          <a:p>
            <a:pPr lvl="1">
              <a:defRPr sz="1800"/>
            </a:pPr>
            <a:r>
              <a:t>Obsesión por el cliente (Customer Journey).</a:t>
            </a:r>
          </a:p>
          <a:p>
            <a:pPr lvl="1">
              <a:defRPr sz="1800"/>
            </a:pPr>
            <a:r>
              <a:t>Automatización de marketing, Pipeline de ventas y Ticketing post-venta.</a:t>
            </a:r>
          </a:p>
          <a:p>
            <a:pPr lvl="1">
              <a:defRPr sz="1800"/>
            </a:pPr>
            <a:r>
              <a:t>Retener un cliente es 5 veces más barato que captar uno nuevo.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Resistencia al Cambio</a:t>
            </a:r>
          </a:p>
          <a:p>
            <a:pPr lvl="1">
              <a:defRPr sz="1800"/>
            </a:pPr>
            <a:r>
              <a:t>El 50% de las implementaciones fracasan por factores humanos.</a:t>
            </a:r>
          </a:p>
          <a:p>
            <a:pPr lvl="1">
              <a:defRPr sz="1800"/>
            </a:pPr>
            <a:r>
              <a:t>Creencias limitantes ('Siempre lo hicimos así').</a:t>
            </a:r>
          </a:p>
          <a:p>
            <a:pPr lvl="1">
              <a:defRPr sz="1800"/>
            </a:pPr>
            <a:r>
              <a:t>Falta de liderazgo y apoyo de la Alta Gerencia.</a:t>
            </a:r>
          </a:p>
          <a:p>
            <a:pPr lvl="1">
              <a:defRPr sz="1800"/>
            </a:pPr>
            <a:r>
              <a:t>Caso Hershey's: Colapso por mala implementación.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3: Business Intelligence (BI) y 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3 -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Pirámide DIKW</a:t>
            </a:r>
          </a:p>
          <a:p>
            <a:pPr lvl="1">
              <a:defRPr sz="1800"/>
            </a:pPr>
            <a:r>
              <a:t>Datos crudos -&gt; Información -&gt; Conocimiento -&gt; Sabiduría.</a:t>
            </a:r>
          </a:p>
          <a:p>
            <a:pPr lvl="1">
              <a:defRPr sz="1800"/>
            </a:pPr>
            <a:r>
              <a:t>Los datos no tienen valor si no se contextualizan.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Arquitectura del BI</a:t>
            </a:r>
          </a:p>
          <a:p>
            <a:pPr lvl="1">
              <a:defRPr sz="1800"/>
            </a:pPr>
            <a:r>
              <a:t>OLTP (Sistemas diarios) vs OLAP (Data Warehouse).</a:t>
            </a:r>
          </a:p>
          <a:p>
            <a:pPr lvl="1">
              <a:defRPr sz="1800"/>
            </a:pPr>
            <a:r>
              <a:t>Procesos ETL (Extraer, Transformar, Cargar).</a:t>
            </a:r>
          </a:p>
          <a:p>
            <a:pPr lvl="1">
              <a:defRPr sz="1800"/>
            </a:pPr>
            <a:r>
              <a:t>Dashboards interactivos como Power BI.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KPIs y Analítica</a:t>
            </a:r>
          </a:p>
          <a:p>
            <a:pPr lvl="1">
              <a:defRPr sz="1800"/>
            </a:pPr>
            <a:r>
              <a:t>Todo KPI debe ser SMART (Específico, Medible, Alcanzable, Relevante, A Tiempo).</a:t>
            </a:r>
          </a:p>
          <a:p>
            <a:pPr lvl="1">
              <a:defRPr sz="1800"/>
            </a:pPr>
            <a:r>
              <a:t>Niveles: Descriptiva (Qué pasó), Predictiva (Qué pasará), Prescriptiva (Qué hacer al respecto).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4: Ciberseguridad y Continuidad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4 -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La Tríada CIA</a:t>
            </a:r>
          </a:p>
          <a:p>
            <a:pPr lvl="1">
              <a:defRPr sz="1800"/>
            </a:pPr>
            <a:r>
              <a:t>Confidencialidad: Acceso solo a autorizados.</a:t>
            </a:r>
          </a:p>
          <a:p>
            <a:pPr lvl="1">
              <a:defRPr sz="1800"/>
            </a:pPr>
            <a:r>
              <a:t>Integridad: Datos libres de alteraciones maliciosas.</a:t>
            </a:r>
          </a:p>
          <a:p>
            <a:pPr lvl="1">
              <a:defRPr sz="1800"/>
            </a:pPr>
            <a:r>
              <a:t>Disponibilidad: Sistemas online siempre que se necesiten.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Amenazas Modernas</a:t>
            </a:r>
          </a:p>
          <a:p>
            <a:pPr lvl="1">
              <a:defRPr sz="1800"/>
            </a:pPr>
            <a:r>
              <a:t>Phishing: El humano es el eslabón más débil.</a:t>
            </a:r>
          </a:p>
          <a:p>
            <a:pPr lvl="1">
              <a:defRPr sz="1800"/>
            </a:pPr>
            <a:r>
              <a:t>Ransomware: Secuestro de datos por criptomonedas.</a:t>
            </a:r>
          </a:p>
          <a:p>
            <a:pPr lvl="1">
              <a:defRPr sz="1800"/>
            </a:pPr>
            <a:r>
              <a:t>Zero Trust: 'Nunca confíes, siempre verifica'.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Recuperación (DRP)</a:t>
            </a:r>
          </a:p>
          <a:p>
            <a:pPr lvl="1">
              <a:defRPr sz="1800"/>
            </a:pPr>
            <a:r>
              <a:t>RTO (Tiempo de caída) y RPO (Pérdida de datos tolerable).</a:t>
            </a:r>
          </a:p>
          <a:p>
            <a:pPr lvl="1">
              <a:defRPr sz="1800"/>
            </a:pPr>
            <a:r>
              <a:t>Regla Backup 3-2-1: 3 copias, 2 medios, 1 en la nube.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5: Cloud Computing y Virtualización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5 -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El Salto Financiero</a:t>
            </a:r>
          </a:p>
          <a:p>
            <a:pPr lvl="1">
              <a:defRPr sz="1800"/>
            </a:pPr>
            <a:r>
              <a:t>De CAPEX (Gasto de Capital) a OPEX (Gasto Operativo).</a:t>
            </a:r>
          </a:p>
          <a:p>
            <a:pPr lvl="1">
              <a:defRPr sz="1800"/>
            </a:pPr>
            <a:r>
              <a:t>Pago por consumo, democratizando la tecnología para PYMES.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Modelos de Servicio (NIST)</a:t>
            </a:r>
          </a:p>
          <a:p>
            <a:pPr lvl="1">
              <a:defRPr sz="1800"/>
            </a:pPr>
            <a:r>
              <a:t>IaaS (Infraestructura): Alquiler de servidores en blanco.</a:t>
            </a:r>
          </a:p>
          <a:p>
            <a:pPr lvl="1">
              <a:defRPr sz="1800"/>
            </a:pPr>
            <a:r>
              <a:t>PaaS (Plataforma): Entorno para desarrolladores.</a:t>
            </a:r>
          </a:p>
          <a:p>
            <a:pPr lvl="1">
              <a:defRPr sz="1800"/>
            </a:pPr>
            <a:r>
              <a:t>SaaS (Software): Apps listas para el usuario final (Ej. Gmail, Salesforce).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Escalabilidad</a:t>
            </a:r>
          </a:p>
          <a:p>
            <a:pPr lvl="1">
              <a:defRPr sz="1800"/>
            </a:pPr>
            <a:r>
              <a:t>Uso de hypervisores para virtualización.</a:t>
            </a:r>
          </a:p>
          <a:p>
            <a:pPr lvl="1">
              <a:defRPr sz="1800"/>
            </a:pPr>
            <a:r>
              <a:t>Escalabilidad elástica: Soportar avalanchas de tráfico en Black Friday sin colapsar.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6: Metodologías Ágiles y Trabajo Colaborativo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6 -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Fin del Modelo Cascada</a:t>
            </a:r>
          </a:p>
          <a:p>
            <a:pPr lvl="1">
              <a:defRPr sz="1800"/>
            </a:pPr>
            <a:r>
              <a:t>El modelo tradicional era lento y generaba software obsoleto.</a:t>
            </a:r>
          </a:p>
          <a:p>
            <a:pPr lvl="1">
              <a:defRPr sz="1800"/>
            </a:pPr>
            <a:r>
              <a:t>Manifiesto Ágil: Responder al cambio sobre seguir un plan.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Framework Scrum</a:t>
            </a:r>
          </a:p>
          <a:p>
            <a:pPr lvl="1">
              <a:defRPr sz="1800"/>
            </a:pPr>
            <a:r>
              <a:t>Sprints de 2 semanas con entregables funcionales.</a:t>
            </a:r>
          </a:p>
          <a:p>
            <a:pPr lvl="1">
              <a:defRPr sz="1800"/>
            </a:pPr>
            <a:r>
              <a:t>Roles: Product Owner, Scrum Master, Development Team.</a:t>
            </a:r>
          </a:p>
          <a:p>
            <a:pPr lvl="1">
              <a:defRPr sz="1800"/>
            </a:pPr>
            <a:r>
              <a:t>Ceremonias: Daily, Review, Retrospective.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Kanban y Herramientas</a:t>
            </a:r>
          </a:p>
          <a:p>
            <a:pPr lvl="1">
              <a:defRPr sz="1800"/>
            </a:pPr>
            <a:r>
              <a:t>Tableros visuales para limitar el trabajo en curso (WIP).</a:t>
            </a:r>
          </a:p>
          <a:p>
            <a:pPr lvl="1">
              <a:defRPr sz="1800"/>
            </a:pPr>
            <a:r>
              <a:t>Digitalización del trabajo con Trello, Asana, Slack y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7: E-Commerce y Transacciones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7 -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Modelos de Negocio</a:t>
            </a:r>
          </a:p>
          <a:p>
            <a:pPr lvl="1">
              <a:defRPr sz="1800"/>
            </a:pPr>
            <a:r>
              <a:t>El modelo 'Long Tail' y la ruptura del límite geográfico.</a:t>
            </a:r>
          </a:p>
          <a:p>
            <a:pPr lvl="1">
              <a:defRPr sz="1800"/>
            </a:pPr>
            <a:r>
              <a:t>B2B, B2C y Marketplaces (C2C).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Arquitectura de una Tienda</a:t>
            </a:r>
          </a:p>
          <a:p>
            <a:pPr lvl="1">
              <a:defRPr sz="1800"/>
            </a:pPr>
            <a:r>
              <a:t>Front-End (Shopify, WooCommerce): Mobile-first.</a:t>
            </a:r>
          </a:p>
          <a:p>
            <a:pPr lvl="1">
              <a:defRPr sz="1800"/>
            </a:pPr>
            <a:r>
              <a:t>Pasarela de Pagos: Cifrado seguro bajo norma PCI-DSS.</a:t>
            </a:r>
          </a:p>
          <a:p>
            <a:pPr lvl="1">
              <a:defRPr sz="1800"/>
            </a:pPr>
            <a:r>
              <a:t>Logística (Última Milla): El verdadero cuello de botella.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Optimización (CRO)</a:t>
            </a:r>
          </a:p>
          <a:p>
            <a:pPr lvl="1">
              <a:defRPr sz="1800"/>
            </a:pPr>
            <a:r>
              <a:t>Test A/B y mapas de calor para evitar carritos abandonados.</a:t>
            </a:r>
          </a:p>
          <a:p>
            <a:pPr lvl="1">
              <a:defRPr sz="1800"/>
            </a:pPr>
            <a:r>
              <a:t>Reducir la fricción en el Checkout.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8: IA y Automatización Corporativa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8 -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Tecnologías Diferenciadas</a:t>
            </a:r>
          </a:p>
          <a:p>
            <a:pPr lvl="1">
              <a:defRPr sz="1800"/>
            </a:pPr>
            <a:r>
              <a:t>RPA: Bots que siguen reglas estrictas para tareas repetitivas.</a:t>
            </a:r>
          </a:p>
          <a:p>
            <a:pPr lvl="1">
              <a:defRPr sz="1800"/>
            </a:pPr>
            <a:r>
              <a:t>Machine Learning: Detección de patrones y fraude.</a:t>
            </a:r>
          </a:p>
          <a:p>
            <a:pPr lvl="1">
              <a:defRPr sz="1800"/>
            </a:pPr>
            <a:r>
              <a:t>IA Generativa: Creación de contenido y análisis de lenguaje natural.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Prompt Engineering</a:t>
            </a:r>
          </a:p>
          <a:p>
            <a:pPr lvl="1">
              <a:defRPr sz="1800"/>
            </a:pPr>
            <a:r>
              <a:t>Saber hacer las preguntas correctas a la máquina.</a:t>
            </a:r>
          </a:p>
          <a:p>
            <a:pPr lvl="1">
              <a:defRPr sz="1800"/>
            </a:pPr>
            <a:r>
              <a:t>Asignar roles, dar contexto y definir salidas.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Servicio al Cliente</a:t>
            </a:r>
          </a:p>
          <a:p>
            <a:pPr lvl="1">
              <a:defRPr sz="1800"/>
            </a:pPr>
            <a:r>
              <a:t>Chatbots de primera línea (Tier 1).</a:t>
            </a:r>
          </a:p>
          <a:p>
            <a:pPr lvl="1">
              <a:defRPr sz="1800"/>
            </a:pPr>
            <a:r>
              <a:t>Resolución instantánea del 80% de consultas.</a:t>
            </a:r>
          </a:p>
          <a:p>
            <a:pPr lvl="1">
              <a:defRPr sz="1800"/>
            </a:pPr>
            <a:r>
              <a:t>Handoff a humanos solo en casos sensibles.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9: Excel Avanzado: Lógica Booleana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9 -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El Tablero de Trabajo</a:t>
            </a:r>
          </a:p>
          <a:p>
            <a:pPr lvl="1">
              <a:defRPr sz="1800"/>
            </a:pPr>
            <a:r>
              <a:t>Excel como la 'navaja suiza' del analista de negocios.</a:t>
            </a:r>
          </a:p>
          <a:p>
            <a:pPr lvl="1">
              <a:defRPr sz="1800"/>
            </a:pPr>
            <a:r>
              <a:t>Flexibilidad sin requerir al departamento de IT.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Funciones Condicionales</a:t>
            </a:r>
          </a:p>
          <a:p>
            <a:pPr lvl="1">
              <a:defRPr sz="1800"/>
            </a:pPr>
            <a:r>
              <a:t>Tomar decisiones algorítmicas con la función SI.</a:t>
            </a:r>
          </a:p>
          <a:p>
            <a:pPr lvl="1">
              <a:defRPr sz="1800"/>
            </a:pPr>
            <a:r>
              <a:t>Anidamiento de operadores booleanos (Y / O).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Manejo Relacional</a:t>
            </a:r>
          </a:p>
          <a:p>
            <a:pPr lvl="1">
              <a:defRPr sz="1800"/>
            </a:pPr>
            <a:r>
              <a:t>Automatización del cruce de bases de datos masivas.</a:t>
            </a:r>
          </a:p>
          <a:p>
            <a:pPr lvl="1">
              <a:defRPr sz="1800"/>
            </a:pPr>
            <a:r>
              <a:t>Uso de BUSCARV, BUSCARX e INDICE+COINCIDIR para evitar errores de tipeo manual.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10: Excel Avanzado: Tablas Dinámicas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10 -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Procesamiento Analítico</a:t>
            </a:r>
          </a:p>
          <a:p>
            <a:pPr lvl="1">
              <a:defRPr sz="1800"/>
            </a:pPr>
            <a:r>
              <a:t>Uso del motor OLAP (Tablas Dinámicas) en hojas de cálculo.</a:t>
            </a:r>
          </a:p>
          <a:p>
            <a:pPr lvl="1">
              <a:defRPr sz="1800"/>
            </a:pPr>
            <a:r>
              <a:t>Resumir, rotar y analizar cientos de miles de filas en segundos.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Interactividad</a:t>
            </a:r>
          </a:p>
          <a:p>
            <a:pPr lvl="1">
              <a:defRPr sz="1800"/>
            </a:pPr>
            <a:r>
              <a:t>Segmentadores de Datos (Slicers) y Líneas de tiempo.</a:t>
            </a:r>
          </a:p>
          <a:p>
            <a:pPr lvl="1">
              <a:defRPr sz="1800"/>
            </a:pPr>
            <a:r>
              <a:t>Filtros visuales que recalculan toda la pantalla con un clic.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Dashboards Ejecutivos</a:t>
            </a:r>
          </a:p>
          <a:p>
            <a:pPr lvl="1">
              <a:defRPr sz="1800"/>
            </a:pPr>
            <a:r>
              <a:t>Reglas de Gestalt y jerarquía visual.</a:t>
            </a:r>
          </a:p>
          <a:p>
            <a:pPr lvl="1">
              <a:defRPr sz="1800"/>
            </a:pPr>
            <a:r>
              <a:t>Menos es más: evitar 3D, priorizar KPIs y gráficos limpios.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11: Marketing Digital y Reputación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11 -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Inbound vs Outbound</a:t>
            </a:r>
          </a:p>
          <a:p>
            <a:pPr lvl="1">
              <a:defRPr sz="1800"/>
            </a:pPr>
            <a:r>
              <a:t>Atraer al cliente con contenido de valor vs Interrumpirlo.</a:t>
            </a:r>
          </a:p>
          <a:p>
            <a:pPr lvl="1">
              <a:defRPr sz="1800"/>
            </a:pPr>
            <a:r>
              <a:t>Medición exacta del CAC (Costo de Adquisición).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Dominio en Buscadores</a:t>
            </a:r>
          </a:p>
          <a:p>
            <a:pPr lvl="1">
              <a:defRPr sz="1800"/>
            </a:pPr>
            <a:r>
              <a:t>SEO: Optimización orgánica técnica y de contenido (Largo plazo).</a:t>
            </a:r>
          </a:p>
          <a:p>
            <a:pPr lvl="1">
              <a:defRPr sz="1800"/>
            </a:pPr>
            <a:r>
              <a:t>SEM: Pago Por Clic y subastas en Google Ads (Corto plazo).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Social Listening y Crisis</a:t>
            </a:r>
          </a:p>
          <a:p>
            <a:pPr lvl="1">
              <a:defRPr sz="1800"/>
            </a:pPr>
            <a:r>
              <a:t>Una mala experiencia se viraliza en horas.</a:t>
            </a:r>
          </a:p>
          <a:p>
            <a:pPr lvl="1">
              <a:defRPr sz="1800"/>
            </a:pPr>
            <a:r>
              <a:t>Monitoreo del sentimiento de marca.</a:t>
            </a:r>
          </a:p>
          <a:p>
            <a:pPr lvl="1">
              <a:defRPr sz="1800"/>
            </a:pPr>
            <a:r>
              <a:t>El Community Manager como primera línea de contención PR.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12: IoT, Blockchain y Tecnoética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12 -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C3E50"/>
                </a:solidFill>
              </a:defRPr>
            </a:pPr>
            <a:r>
              <a:t>Internet of Things (IoT)</a:t>
            </a:r>
          </a:p>
          <a:p>
            <a:pPr lvl="1">
              <a:defRPr sz="1800"/>
            </a:pPr>
            <a:r>
              <a:t>Sensores en objetos físicos (logística, motores).</a:t>
            </a:r>
          </a:p>
          <a:p>
            <a:pPr lvl="1">
              <a:defRPr sz="1800"/>
            </a:pPr>
            <a:r>
              <a:t>Mantenimiento Predictivo gracias al análisis Cloud en tiempo real.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Blockchain en los Negocios</a:t>
            </a:r>
          </a:p>
          <a:p>
            <a:pPr lvl="1">
              <a:defRPr sz="1800"/>
            </a:pPr>
            <a:r>
              <a:t>Libro mayor distribuido e inmutable.</a:t>
            </a:r>
          </a:p>
          <a:p>
            <a:pPr lvl="1">
              <a:defRPr sz="1800"/>
            </a:pPr>
            <a:r>
              <a:t>Trazabilidad perfecta en cadenas de suministro.</a:t>
            </a:r>
          </a:p>
          <a:p>
            <a:pPr lvl="1">
              <a:defRPr sz="1800"/>
            </a:pPr>
            <a:r>
              <a:t>Smart Contracts: Ejecución automática sin intermediarios.</a:t>
            </a:r>
          </a:p>
          <a:p>
            <a:pPr>
              <a:defRPr b="1" sz="2200">
                <a:solidFill>
                  <a:srgbClr val="2C3E50"/>
                </a:solidFill>
              </a:defRPr>
            </a:pPr>
            <a:r>
              <a:t>La Ética de la Digitalización</a:t>
            </a:r>
          </a:p>
          <a:p>
            <a:pPr lvl="1">
              <a:defRPr sz="1800"/>
            </a:pPr>
            <a:r>
              <a:t>Privacidad y Capitalismo de Vigilancia.</a:t>
            </a:r>
          </a:p>
          <a:p>
            <a:pPr lvl="1">
              <a:defRPr sz="1800"/>
            </a:pPr>
            <a:r>
              <a:t>Sesgos algorítmicos en la contratación por RRHH.</a:t>
            </a:r>
          </a:p>
          <a:p>
            <a:pPr lvl="1">
              <a:defRPr sz="1800"/>
            </a:pPr>
            <a:r>
              <a:t>La responsabilidad ética del gerente ante las 'cajas negras' de la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