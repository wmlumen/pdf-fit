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TECNOLOGÍA DE LA INFORMACIÓN Y LA COMUNICACIÓN (ADE18)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Instituto Superior Centuria</a:t>
            </a:r>
          </a:p>
          <a:p>
            <a:r>
              <a:t>Programa Analítico Oficial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1: UNIDAD I: Introducción a los Sistemas de Información Computarizados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Temario de la Sesión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1. Dato e Información</a:t>
            </a:r>
          </a:p>
          <a:p>
            <a:pPr lvl="1">
              <a:defRPr sz="1800"/>
            </a:pPr>
            <a:r>
              <a:t>Transformar hechos aislados en conocimientos estructurados.</a:t>
            </a:r>
          </a:p>
          <a:p>
            <a:pPr lvl="1">
              <a:defRPr sz="1800"/>
            </a:pPr>
            <a:r>
              <a:t>Significado y valor directo para la toma de decisiones.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2. Tipología de los SI</a:t>
            </a:r>
          </a:p>
          <a:p>
            <a:pPr lvl="1">
              <a:defRPr sz="1800"/>
            </a:pPr>
            <a:r>
              <a:t>Transición de sistemas transaccionales básicos (TPS).</a:t>
            </a:r>
          </a:p>
          <a:p>
            <a:pPr lvl="1">
              <a:defRPr sz="1800"/>
            </a:pPr>
            <a:r>
              <a:t>Herramientas de apoyo a decisiones (DSS, GDSS, EIS) y sistemas estratégicos (SIS).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3. Ciclo de Vida</a:t>
            </a:r>
          </a:p>
          <a:p>
            <a:pPr lvl="1">
              <a:defRPr sz="1800"/>
            </a:pPr>
            <a:r>
              <a:t>Fases evolutivas secuenciales de nacimiento (estudio de factibilidad), desarrollo, operación, mantenimiento y muerte de la tecnología.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4. Métodos Alternativos de Adquisición</a:t>
            </a:r>
          </a:p>
          <a:p>
            <a:pPr lvl="1">
              <a:defRPr sz="1800"/>
            </a:pPr>
            <a:r>
              <a:t>Análisis de conveniencia: método tradicional estructurado vs compra de paquetes.</a:t>
            </a:r>
          </a:p>
          <a:p>
            <a:pPr lvl="1">
              <a:defRPr sz="1800"/>
            </a:pPr>
            <a:r>
              <a:t>Cómputo/desarrollo del usuario final y outsourcing estratégico de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2: UNIDAD II y V: Estrategia y Hardware/Software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Temario de la Sesión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Estrategia de Negocios</a:t>
            </a:r>
          </a:p>
          <a:p>
            <a:pPr lvl="1">
              <a:defRPr sz="1800"/>
            </a:pPr>
            <a:r>
              <a:t>Ventajas competitivas y sistemas de información.</a:t>
            </a:r>
          </a:p>
          <a:p>
            <a:pPr lvl="1">
              <a:defRPr sz="1800"/>
            </a:pPr>
            <a:r>
              <a:t>Fuerzas de la industria e impulsos estratégicos.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Sistemas Estratégicos</a:t>
            </a:r>
          </a:p>
          <a:p>
            <a:pPr lvl="1">
              <a:defRPr sz="1800"/>
            </a:pPr>
            <a:r>
              <a:t>Implantación de sistemas estratégicos.</a:t>
            </a:r>
          </a:p>
          <a:p>
            <a:pPr lvl="1">
              <a:defRPr sz="1800"/>
            </a:pPr>
            <a:r>
              <a:t>Reingeniería de procesos.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Unidad V: Hardware y Software</a:t>
            </a:r>
          </a:p>
          <a:p>
            <a:pPr lvl="1">
              <a:defRPr sz="1800"/>
            </a:pPr>
            <a:r>
              <a:t>La computadora: definición y componentes básicos.</a:t>
            </a:r>
          </a:p>
          <a:p>
            <a:pPr lvl="1">
              <a:defRPr sz="1800"/>
            </a:pPr>
            <a:r>
              <a:t>Concepto de software.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3: UNIDAD III: Administración de Base de Datos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Temario de la Sesión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Base de Datos</a:t>
            </a:r>
          </a:p>
          <a:p>
            <a:pPr lvl="1">
              <a:defRPr sz="1800"/>
            </a:pPr>
            <a:r>
              <a:t>Archivos convencionales vs Definición de base de datos.</a:t>
            </a:r>
          </a:p>
          <a:p>
            <a:pPr lvl="1">
              <a:defRPr sz="1800"/>
            </a:pPr>
            <a:r>
              <a:t>Ventajas en el uso de base de datos.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Manejo del Sistema</a:t>
            </a:r>
          </a:p>
          <a:p>
            <a:pPr lvl="1">
              <a:defRPr sz="1800"/>
            </a:pPr>
            <a:r>
              <a:t>El DBMS y el Administrador de la base de datos (DBA).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Modelos</a:t>
            </a:r>
          </a:p>
          <a:p>
            <a:pPr lvl="1">
              <a:defRPr sz="1800"/>
            </a:pPr>
            <a:r>
              <a:t>Tipos de modelos de base de datos distribuidas.</a:t>
            </a:r>
          </a:p>
          <a:p>
            <a:pPr lvl="1">
              <a:defRPr sz="1800"/>
            </a:pPr>
            <a:r>
              <a:t>Data warehouse.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4: UNIDAD IV: Sistemas Integrados de Gestión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Temario de la Sesión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Sistemas ERP</a:t>
            </a:r>
          </a:p>
          <a:p>
            <a:pPr lvl="1">
              <a:defRPr sz="1800"/>
            </a:pPr>
            <a:r>
              <a:t>Sistemas integradores de la administración de empresas (ERP).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Evaluación</a:t>
            </a:r>
          </a:p>
          <a:p>
            <a:pPr lvl="1">
              <a:defRPr sz="1800"/>
            </a:pPr>
            <a:r>
              <a:t>Determinación de requerimientos.</a:t>
            </a:r>
          </a:p>
          <a:p>
            <a:pPr lvl="1">
              <a:defRPr sz="1800"/>
            </a:pPr>
            <a:r>
              <a:t>Evaluación técnica y evaluación financiera de las propuestas.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Implantación</a:t>
            </a:r>
          </a:p>
          <a:p>
            <a:pPr lvl="1">
              <a:defRPr sz="1800"/>
            </a:pPr>
            <a:r>
              <a:t>Actualización y costos de TIC.</a:t>
            </a:r>
          </a:p>
          <a:p>
            <a:pPr lvl="1">
              <a:defRPr sz="1800"/>
            </a:pPr>
            <a:r>
              <a:t>Actividades posteriores a la firma del contrato.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5: UNIDAD VI: Infraestructura de Redes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Temario de la Sesión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Comunicación de Datos</a:t>
            </a:r>
          </a:p>
          <a:p>
            <a:pPr lvl="1">
              <a:defRPr sz="1800"/>
            </a:pPr>
            <a:r>
              <a:t>Hardware de apoyo a la comunicación.</a:t>
            </a:r>
          </a:p>
          <a:p>
            <a:pPr lvl="1">
              <a:defRPr sz="1800"/>
            </a:pPr>
            <a:r>
              <a:t>Conectividad y redes computacionales.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Internet e Intranet</a:t>
            </a:r>
          </a:p>
          <a:p>
            <a:pPr lvl="1">
              <a:defRPr sz="1800"/>
            </a:pPr>
            <a:r>
              <a:t>Dominios y servicios en internet.</a:t>
            </a:r>
          </a:p>
          <a:p>
            <a:pPr lvl="1">
              <a:defRPr sz="1800"/>
            </a:pPr>
            <a:r>
              <a:t>Diferencias entre Intranet y Extranet.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Protocolos</a:t>
            </a:r>
          </a:p>
          <a:p>
            <a:pPr lvl="1">
              <a:defRPr sz="1800"/>
            </a:pPr>
            <a:r>
              <a:t>Protocolos inalámbricos para internet.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6: UNIDAD VII (Parte 1): Tecnologías DSS y GDSS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Temario de la Sesión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Sistemas DSS</a:t>
            </a:r>
          </a:p>
          <a:p>
            <a:pPr lvl="1">
              <a:defRPr sz="1800"/>
            </a:pPr>
            <a:r>
              <a:t>Proceso de toma de decisiones.</a:t>
            </a:r>
          </a:p>
          <a:p>
            <a:pPr lvl="1">
              <a:defRPr sz="1800"/>
            </a:pPr>
            <a:r>
              <a:t>Sistemas de apoyo a las decisiones (DSS). Caso de aplicación.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Sistemas GDSS</a:t>
            </a:r>
          </a:p>
          <a:p>
            <a:pPr lvl="1">
              <a:defRPr sz="1800"/>
            </a:pPr>
            <a:r>
              <a:t>Sistemas de apoyo para decisiones en grupo (GDSS).</a:t>
            </a:r>
          </a:p>
          <a:p>
            <a:pPr lvl="1">
              <a:defRPr sz="1800"/>
            </a:pPr>
            <a:r>
              <a:t>Ventajas y desventajas del uso de GDSS. Diseño de salas.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7: UNIDAD VII (Parte 2): Inteligencia Artificial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Temario de la Sesión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Inteligencia Artificial</a:t>
            </a:r>
          </a:p>
          <a:p>
            <a:pPr lvl="1">
              <a:defRPr sz="1800"/>
            </a:pPr>
            <a:r>
              <a:t>Fundamentos de inteligencia artificial.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Sistemas Expertos</a:t>
            </a:r>
          </a:p>
          <a:p>
            <a:pPr lvl="1">
              <a:defRPr sz="1800"/>
            </a:pPr>
            <a:r>
              <a:t>Beneficios que genera el uso de sistemas expertos y costos.</a:t>
            </a:r>
          </a:p>
          <a:p>
            <a:pPr lvl="1">
              <a:defRPr sz="1800"/>
            </a:pPr>
            <a:r>
              <a:t>El generador de sistemas expertos o Shell.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Selección</a:t>
            </a:r>
          </a:p>
          <a:p>
            <a:pPr lvl="1">
              <a:defRPr sz="1800"/>
            </a:pPr>
            <a:r>
              <a:t>Selección de aplicaciones para sistemas expertos.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8: UNIDAD VIII: Sistemas de Apoyo a Ejecutivos (EIS)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Temario de la Sesión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Concepto</a:t>
            </a:r>
          </a:p>
          <a:p>
            <a:pPr lvl="1">
              <a:defRPr sz="1800"/>
            </a:pPr>
            <a:r>
              <a:t>Características de los Sistemas de apoyo a ejecutivos (EIS).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Desarrollo</a:t>
            </a:r>
          </a:p>
          <a:p>
            <a:pPr lvl="1">
              <a:defRPr sz="1800"/>
            </a:pPr>
            <a:r>
              <a:t>Factores de éxito y proceso de desarrollo.</a:t>
            </a:r>
          </a:p>
          <a:p>
            <a:pPr lvl="1">
              <a:defRPr sz="1800"/>
            </a:pPr>
            <a:r>
              <a:t>Implantación.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Impacto</a:t>
            </a:r>
          </a:p>
          <a:p>
            <a:pPr lvl="1">
              <a:defRPr sz="1800"/>
            </a:pPr>
            <a:r>
              <a:t>Efecto del EIS en el proceso de planeación y control.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9: UNIDAD IX (Parte 1): Paradigmas en Internet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Temario de la Sesión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Negocios On Line</a:t>
            </a:r>
          </a:p>
          <a:p>
            <a:pPr lvl="1">
              <a:defRPr sz="1800"/>
            </a:pPr>
            <a:r>
              <a:t>Introducción a los negocios por internet.</a:t>
            </a:r>
          </a:p>
          <a:p>
            <a:pPr lvl="1">
              <a:defRPr sz="1800"/>
            </a:pPr>
            <a:r>
              <a:t>Elección de tecnologías.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Comercio Electrónico</a:t>
            </a:r>
          </a:p>
          <a:p>
            <a:pPr lvl="1">
              <a:defRPr sz="1800"/>
            </a:pPr>
            <a:r>
              <a:t>Concepto y categorías.</a:t>
            </a:r>
          </a:p>
          <a:p>
            <a:pPr lvl="1">
              <a:defRPr sz="1800"/>
            </a:pPr>
            <a:r>
              <a:t>Ventajas, problemáticas, sistemas de pago y aspectos legales.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10: UNIDAD IX (Parte 2): E-Government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Temario de la Sesión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Gobierno Electrónico</a:t>
            </a:r>
          </a:p>
          <a:p>
            <a:pPr lvl="1">
              <a:defRPr sz="1800"/>
            </a:pPr>
            <a:r>
              <a:t>Concepto de E-goberment y su impacto institucional.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Firma Digital</a:t>
            </a:r>
          </a:p>
          <a:p>
            <a:pPr lvl="1">
              <a:defRPr sz="1800"/>
            </a:pPr>
            <a:r>
              <a:t>Aplicación y aspectos legales de la Firma digital.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11: UNIDAD X: Futuro de las TIC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Temario de la Sesión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Nuevas Tendencias</a:t>
            </a:r>
          </a:p>
          <a:p>
            <a:pPr lvl="1">
              <a:defRPr sz="1800"/>
            </a:pPr>
            <a:r>
              <a:t>Nuevas tendencias tecnológicas aplicadas a los negocios.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Datos y Redes</a:t>
            </a:r>
          </a:p>
          <a:p>
            <a:pPr lvl="1">
              <a:defRPr sz="1800"/>
            </a:pPr>
            <a:r>
              <a:t>Cubos de datos.</a:t>
            </a:r>
          </a:p>
          <a:p>
            <a:pPr lvl="1">
              <a:defRPr sz="1800"/>
            </a:pPr>
            <a:r>
              <a:t>Bases de datos post-relacionales.</a:t>
            </a:r>
          </a:p>
          <a:p>
            <a:pPr lvl="1">
              <a:defRPr sz="1800"/>
            </a:pPr>
            <a:r>
              <a:t>Redes de alta velocidad.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12: Estudios de Casos en Laboratorio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Temario de la Sesión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Aplicación</a:t>
            </a:r>
          </a:p>
          <a:p>
            <a:pPr lvl="1">
              <a:defRPr sz="1800"/>
            </a:pPr>
            <a:r>
              <a:t>Estudios de casos en laboratorio de informática.</a:t>
            </a:r>
          </a:p>
          <a:p>
            <a:pPr lvl="1">
              <a:defRPr sz="1800"/>
            </a:pPr>
            <a:r>
              <a:t>Visión general de las herramientas de apoyo a las decisiones.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Evaluación</a:t>
            </a:r>
          </a:p>
          <a:p>
            <a:pPr lvl="1">
              <a:defRPr sz="1800"/>
            </a:pPr>
            <a:r>
              <a:t>Talleres para elaboración y presentación de trabajos.</a:t>
            </a:r>
          </a:p>
          <a:p>
            <a:pPr lvl="1">
              <a:defRPr sz="1800"/>
            </a:pPr>
            <a:r>
              <a:t>Preparación del Compilador.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