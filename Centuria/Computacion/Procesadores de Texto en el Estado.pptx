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Merriweather"/>
      <p:regular r:id="rId18"/>
      <p:bold r:id="rId19"/>
      <p:italic r:id="rId20"/>
      <p:boldItalic r:id="rId21"/>
    </p:embeddedFont>
    <p:embeddedFont>
      <p:font typeface="DM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italic.fntdata"/><Relationship Id="rId22" Type="http://schemas.openxmlformats.org/officeDocument/2006/relationships/font" Target="fonts/DMSans-regular.fntdata"/><Relationship Id="rId21" Type="http://schemas.openxmlformats.org/officeDocument/2006/relationships/font" Target="fonts/Merriweather-boldItalic.fntdata"/><Relationship Id="rId24" Type="http://schemas.openxmlformats.org/officeDocument/2006/relationships/font" Target="fonts/DMSans-italic.fntdata"/><Relationship Id="rId23" Type="http://schemas.openxmlformats.org/officeDocument/2006/relationships/font" Target="fonts/DM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DM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erriweather-bold.fntdata"/><Relationship Id="rId18" Type="http://schemas.openxmlformats.org/officeDocument/2006/relationships/font" Target="fonts/Merriweath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690449" y="2714625"/>
            <a:ext cx="8811101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Procesadores de Texto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3362325" y="3743325"/>
            <a:ext cx="54673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Estandarización y Colaboración en el Estado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/>
          <p:nvPr/>
        </p:nvSpPr>
        <p:spPr>
          <a:xfrm>
            <a:off x="5619750" y="2962275"/>
            <a:ext cx="952500" cy="476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4160758" y="3295650"/>
            <a:ext cx="387048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01. Estandarización Institucional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3457575" y="3781425"/>
            <a:ext cx="52768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Microsoft Word para documentos oficiales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543175"/>
            <a:ext cx="5286375" cy="2752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543175"/>
            <a:ext cx="5286375" cy="27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/>
        </p:nvSpPr>
        <p:spPr>
          <a:xfrm>
            <a:off x="971550" y="2943225"/>
            <a:ext cx="471058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La Imagen del Estado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971550" y="3467100"/>
            <a:ext cx="44862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Las resoluciones, dictámenes técnicos y pliegos de bases representan formalmente a la institución. Un documento mal estructurado transmite desorganización y resta validez técnica ante la ciudadanía y entes de control.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6734175" y="2943225"/>
            <a:ext cx="471058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La Solución: "Estilos"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6734175" y="3467100"/>
            <a:ext cx="44862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Utilizar los "Estilos" de Word (Título 1, Normal, etc.) en lugar de formatear manualmente, garantiza uniformidad, ahorra horas de corrección de márgenes y permite generar índices automáticos al instante.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El Desafío del Formato Público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145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 txBox="1"/>
          <p:nvPr/>
        </p:nvSpPr>
        <p:spPr>
          <a:xfrm>
            <a:off x="742950" y="199072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0" name="Google Shape;110;p16"/>
          <p:cNvSpPr txBox="1"/>
          <p:nvPr/>
        </p:nvSpPr>
        <p:spPr>
          <a:xfrm>
            <a:off x="809625" y="1990725"/>
            <a:ext cx="50482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Control de Cambios:</a:t>
            </a: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Herramienta esencial. Permite auditar qué asesor jurídico o técnico modificó un borrador normativo, aceptando o rechazando cambios de manera transparente antes de la firma final.</a:t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742950" y="327660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809625" y="3276600"/>
            <a:ext cx="50482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Tabla de Contenido Automática:</a:t>
            </a: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Fundamental para documentos extensos (ej. Planes Operativos). Se genera con un clic si se aplicaron correctamente los estilos de título.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742950" y="456247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809625" y="4562475"/>
            <a:ext cx="50482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Combinación de Correspondencia:</a:t>
            </a: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Conecta Word con una base de Excel para emitir cientos de notificaciones, certificados o resoluciones personalizadas automáticamente.</a:t>
            </a:r>
            <a:endParaRPr/>
          </a:p>
        </p:txBody>
      </p:sp>
      <p:pic>
        <p:nvPicPr>
          <p:cNvPr descr="image.png" id="115" name="Google Shape;11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3175" y="2033587"/>
            <a:ext cx="524827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Herramientas Clave en Word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/>
          <p:nvPr/>
        </p:nvSpPr>
        <p:spPr>
          <a:xfrm>
            <a:off x="5619750" y="2962275"/>
            <a:ext cx="952500" cy="476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4170759" y="3295650"/>
            <a:ext cx="385048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02. Colaboración en Tiempo Real</a:t>
            </a:r>
            <a:endParaRPr/>
          </a:p>
        </p:txBody>
      </p:sp>
      <p:sp>
        <p:nvSpPr>
          <p:cNvPr id="123" name="Google Shape;123;p17"/>
          <p:cNvSpPr txBox="1"/>
          <p:nvPr/>
        </p:nvSpPr>
        <p:spPr>
          <a:xfrm>
            <a:off x="3314700" y="3781425"/>
            <a:ext cx="55626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Google Docs para el trabajo interinstitucional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/>
        </p:nvSpPr>
        <p:spPr>
          <a:xfrm>
            <a:off x="571500" y="571500"/>
            <a:ext cx="52006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Google Docs</a:t>
            </a:r>
            <a:endParaRPr/>
          </a:p>
        </p:txBody>
      </p:sp>
      <p:pic>
        <p:nvPicPr>
          <p:cNvPr descr="image.png" id="129" name="Google Shape;12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 txBox="1"/>
          <p:nvPr/>
        </p:nvSpPr>
        <p:spPr>
          <a:xfrm>
            <a:off x="571500" y="2728912"/>
            <a:ext cx="495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En el nivel gerencial público, rara vez un documento estratégico es redactado por una sola persona. Equipos técnicos, jurídicos y financieros deben consolidar información.</a:t>
            </a:r>
            <a:endParaRPr/>
          </a:p>
        </p:txBody>
      </p:sp>
      <p:sp>
        <p:nvSpPr>
          <p:cNvPr id="131" name="Google Shape;131;p18"/>
          <p:cNvSpPr txBox="1"/>
          <p:nvPr/>
        </p:nvSpPr>
        <p:spPr>
          <a:xfrm>
            <a:off x="571500" y="4062412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El envío repetitivo de correos con archivos adjuntos como *"Informe_Final_v3_corregido.docx"* genera confusión, pérdida de datos y desorden administrativo.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909762"/>
            <a:ext cx="3429000" cy="401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0" y="1909762"/>
            <a:ext cx="3429000" cy="401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1500" y="1909762"/>
            <a:ext cx="3429000" cy="401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9"/>
          <p:cNvSpPr txBox="1"/>
          <p:nvPr/>
        </p:nvSpPr>
        <p:spPr>
          <a:xfrm>
            <a:off x="805815" y="3005137"/>
            <a:ext cx="296037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Edición Simultánea</a:t>
            </a:r>
            <a:endParaRPr/>
          </a:p>
        </p:txBody>
      </p:sp>
      <p:sp>
        <p:nvSpPr>
          <p:cNvPr id="140" name="Google Shape;140;p19"/>
          <p:cNvSpPr txBox="1"/>
          <p:nvPr/>
        </p:nvSpPr>
        <p:spPr>
          <a:xfrm>
            <a:off x="876300" y="3910012"/>
            <a:ext cx="2819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Varios funcionarios pueden trabajar en el mismo documento al mismo tiempo, viendo los cambios en vivo. Elimina las versiones duplicadas del archivo.</a:t>
            </a:r>
            <a:endParaRPr/>
          </a:p>
        </p:txBody>
      </p:sp>
      <p:sp>
        <p:nvSpPr>
          <p:cNvPr id="141" name="Google Shape;141;p19"/>
          <p:cNvSpPr txBox="1"/>
          <p:nvPr/>
        </p:nvSpPr>
        <p:spPr>
          <a:xfrm>
            <a:off x="4615815" y="3005137"/>
            <a:ext cx="296037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Historial de Versiones</a:t>
            </a:r>
            <a:endParaRPr/>
          </a:p>
        </p:txBody>
      </p:sp>
      <p:sp>
        <p:nvSpPr>
          <p:cNvPr id="142" name="Google Shape;142;p19"/>
          <p:cNvSpPr txBox="1"/>
          <p:nvPr/>
        </p:nvSpPr>
        <p:spPr>
          <a:xfrm>
            <a:off x="4686300" y="3910012"/>
            <a:ext cx="28194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Guarda automáticamente cada modificación. Permite auditar el documento y restaurarlo a un punto anterior si alguien eliminó un párrafo importante por error.</a:t>
            </a:r>
            <a:endParaRPr/>
          </a:p>
        </p:txBody>
      </p:sp>
      <p:sp>
        <p:nvSpPr>
          <p:cNvPr id="143" name="Google Shape;143;p19"/>
          <p:cNvSpPr txBox="1"/>
          <p:nvPr/>
        </p:nvSpPr>
        <p:spPr>
          <a:xfrm>
            <a:off x="8530828" y="3005137"/>
            <a:ext cx="275034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Asignaciones (@)</a:t>
            </a:r>
            <a:endParaRPr/>
          </a:p>
        </p:txBody>
      </p:sp>
      <p:sp>
        <p:nvSpPr>
          <p:cNvPr id="144" name="Google Shape;144;p19"/>
          <p:cNvSpPr txBox="1"/>
          <p:nvPr/>
        </p:nvSpPr>
        <p:spPr>
          <a:xfrm>
            <a:off x="8496300" y="3529012"/>
            <a:ext cx="28194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Permite etiquetar a un colega (ej. @DirectorFinanzas) en un comentario específico para solicitar su revisión sobre un dato puntual del documento.</a:t>
            </a:r>
            <a:endParaRPr/>
          </a:p>
        </p:txBody>
      </p:sp>
      <p:pic>
        <p:nvPicPr>
          <p:cNvPr descr="image.png" id="145" name="Google Shape;14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0250" y="227171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67400" y="227171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77400" y="22717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Funcionalidades Colaborativas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/>
          <p:nvPr/>
        </p:nvSpPr>
        <p:spPr>
          <a:xfrm>
            <a:off x="571500" y="3019425"/>
            <a:ext cx="48768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60%</a:t>
            </a:r>
            <a:endParaRPr/>
          </a:p>
        </p:txBody>
      </p:sp>
      <p:sp>
        <p:nvSpPr>
          <p:cNvPr id="154" name="Google Shape;154;p20"/>
          <p:cNvSpPr txBox="1"/>
          <p:nvPr/>
        </p:nvSpPr>
        <p:spPr>
          <a:xfrm>
            <a:off x="571500" y="4448175"/>
            <a:ext cx="48768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Menos Burocracia</a:t>
            </a:r>
            <a:endParaRPr/>
          </a:p>
        </p:txBody>
      </p:sp>
      <p:sp>
        <p:nvSpPr>
          <p:cNvPr id="155" name="Google Shape;155;p20"/>
          <p:cNvSpPr txBox="1"/>
          <p:nvPr/>
        </p:nvSpPr>
        <p:spPr>
          <a:xfrm>
            <a:off x="6334125" y="2943225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Eficiencia en Revisiones</a:t>
            </a:r>
            <a:endParaRPr/>
          </a:p>
        </p:txBody>
      </p:sp>
      <p:sp>
        <p:nvSpPr>
          <p:cNvPr id="156" name="Google Shape;156;p20"/>
          <p:cNvSpPr txBox="1"/>
          <p:nvPr/>
        </p:nvSpPr>
        <p:spPr>
          <a:xfrm>
            <a:off x="6334125" y="3467100"/>
            <a:ext cx="52863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Al migrar la consolidación de planes operativos a plataformas colaborativas, las instituciones reducen los ciclos de revisión y corrección de semanas a solo un par de días, evitando el cuellos de botella en la firma de expedientes.</a:t>
            </a:r>
            <a:endParaRPr/>
          </a:p>
        </p:txBody>
      </p:sp>
      <p:sp>
        <p:nvSpPr>
          <p:cNvPr id="157" name="Google Shape;157;p2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Impacto en los Tiempos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/>
          <p:nvPr/>
        </p:nvSpPr>
        <p:spPr>
          <a:xfrm>
            <a:off x="1676400" y="2485132"/>
            <a:ext cx="8839200" cy="224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"La administración electrónica no consiste en añadir ordenadores a la burocracia, sino en reingeniar los procesos para trabajar juntos de forma transparente."</a:t>
            </a:r>
            <a:endParaRPr/>
          </a:p>
        </p:txBody>
      </p:sp>
      <p:sp>
        <p:nvSpPr>
          <p:cNvPr id="163" name="Google Shape;163;p21"/>
          <p:cNvSpPr txBox="1"/>
          <p:nvPr/>
        </p:nvSpPr>
        <p:spPr>
          <a:xfrm>
            <a:off x="4105275" y="5030092"/>
            <a:ext cx="39814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— Especialista en Gobierno Abierto</a:t>
            </a:r>
            <a:endParaRPr/>
          </a:p>
        </p:txBody>
      </p:sp>
      <p:sp>
        <p:nvSpPr>
          <p:cNvPr id="164" name="Google Shape;164;p21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El Paradigma Colaborativo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/>
          <p:nvPr/>
        </p:nvSpPr>
        <p:spPr>
          <a:xfrm>
            <a:off x="295275" y="571500"/>
            <a:ext cx="11601450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¿Dudas?</a:t>
            </a:r>
            <a:endParaRPr/>
          </a:p>
        </p:txBody>
      </p:sp>
      <p:sp>
        <p:nvSpPr>
          <p:cNvPr id="170" name="Google Shape;170;p22"/>
          <p:cNvSpPr txBox="1"/>
          <p:nvPr/>
        </p:nvSpPr>
        <p:spPr>
          <a:xfrm>
            <a:off x="571500" y="172402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Fin del bloque sobre Procesadores de Texto.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3"/>
          <p:cNvSpPr/>
          <p:nvPr/>
        </p:nvSpPr>
        <p:spPr>
          <a:xfrm>
            <a:off x="571500" y="315277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3"/>
          <p:cNvSpPr/>
          <p:nvPr/>
        </p:nvSpPr>
        <p:spPr>
          <a:xfrm>
            <a:off x="571500" y="3914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3"/>
          <p:cNvSpPr/>
          <p:nvPr/>
        </p:nvSpPr>
        <p:spPr>
          <a:xfrm>
            <a:off x="571500" y="3914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8" name="Google Shape;17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2956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3"/>
          <p:cNvSpPr txBox="1"/>
          <p:nvPr/>
        </p:nvSpPr>
        <p:spPr>
          <a:xfrm>
            <a:off x="1666875" y="330279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http://googleusercontent.com/image_collection/image_retrieval/16061236093560623688_0</a:t>
            </a:r>
            <a:endParaRPr/>
          </a:p>
        </p:txBody>
      </p:sp>
      <p:sp>
        <p:nvSpPr>
          <p:cNvPr id="180" name="Google Shape;180;p23"/>
          <p:cNvSpPr txBox="1"/>
          <p:nvPr/>
        </p:nvSpPr>
        <p:spPr>
          <a:xfrm>
            <a:off x="1666875" y="353615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Google Image Search</a:t>
            </a:r>
            <a:endParaRPr/>
          </a:p>
        </p:txBody>
      </p:sp>
      <p:pic>
        <p:nvPicPr>
          <p:cNvPr descr="image.png" id="181" name="Google Shape;18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671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3"/>
          <p:cNvSpPr txBox="1"/>
          <p:nvPr/>
        </p:nvSpPr>
        <p:spPr>
          <a:xfrm>
            <a:off x="1666875" y="407431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http://googleusercontent.com/image_collection/image_retrieval/14413143427511454844_0</a:t>
            </a:r>
            <a:endParaRPr/>
          </a:p>
        </p:txBody>
      </p:sp>
      <p:sp>
        <p:nvSpPr>
          <p:cNvPr id="183" name="Google Shape;183;p23"/>
          <p:cNvSpPr txBox="1"/>
          <p:nvPr/>
        </p:nvSpPr>
        <p:spPr>
          <a:xfrm>
            <a:off x="1666875" y="430768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Google Image Search</a:t>
            </a:r>
            <a:endParaRPr/>
          </a:p>
        </p:txBody>
      </p:sp>
      <p:sp>
        <p:nvSpPr>
          <p:cNvPr id="184" name="Google Shape;184;p23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/>
          <p:nvPr/>
        </p:nvSpPr>
        <p:spPr>
          <a:xfrm>
            <a:off x="571500" y="306705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4"/>
          <p:cNvSpPr/>
          <p:nvPr/>
        </p:nvSpPr>
        <p:spPr>
          <a:xfrm>
            <a:off x="571500" y="38290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4"/>
          <p:cNvSpPr/>
          <p:nvPr/>
        </p:nvSpPr>
        <p:spPr>
          <a:xfrm>
            <a:off x="571500" y="38290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2" name="Google Shape;19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2099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4"/>
          <p:cNvSpPr txBox="1"/>
          <p:nvPr/>
        </p:nvSpPr>
        <p:spPr>
          <a:xfrm>
            <a:off x="1666875" y="321706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https://png.pngtree.com/thumb_back/fw800/background/20251206/pngtree-person-typing-on-a-laptop-with-document-open-in-modern-office-image_20741886.webp</a:t>
            </a:r>
            <a:endParaRPr/>
          </a:p>
        </p:txBody>
      </p:sp>
      <p:sp>
        <p:nvSpPr>
          <p:cNvPr id="194" name="Google Shape;194;p24"/>
          <p:cNvSpPr txBox="1"/>
          <p:nvPr/>
        </p:nvSpPr>
        <p:spPr>
          <a:xfrm>
            <a:off x="1666875" y="345043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pngtree.com</a:t>
            </a:r>
            <a:endParaRPr/>
          </a:p>
        </p:txBody>
      </p:sp>
      <p:pic>
        <p:nvPicPr>
          <p:cNvPr descr="image.png" id="195" name="Google Shape;19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671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 txBox="1"/>
          <p:nvPr/>
        </p:nvSpPr>
        <p:spPr>
          <a:xfrm>
            <a:off x="1666875" y="3981450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https://static.vecteezy.com/system/resources/previews/050/837/804/large_2x/a-group-of-business-professionals-are-gathered-around-a-table-in-a-modern-office-collaborating-on-a-project-they-are-reviewing-documents-and-using-laptops-photo.jpg</a:t>
            </a:r>
            <a:endParaRPr/>
          </a:p>
        </p:txBody>
      </p:sp>
      <p:sp>
        <p:nvSpPr>
          <p:cNvPr id="197" name="Google Shape;197;p24"/>
          <p:cNvSpPr txBox="1"/>
          <p:nvPr/>
        </p:nvSpPr>
        <p:spPr>
          <a:xfrm>
            <a:off x="1666875" y="4400550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www.vecteezy.com</a:t>
            </a:r>
            <a:endParaRPr/>
          </a:p>
        </p:txBody>
      </p:sp>
      <p:sp>
        <p:nvSpPr>
          <p:cNvPr id="198" name="Google Shape;198;p2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