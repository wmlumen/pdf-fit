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Urbanist" panose="020B0604020202020204" charset="0"/>
      <p:regular r:id="rId14"/>
      <p:bold r:id="rId15"/>
      <p:italic r:id="rId16"/>
      <p:boldItalic r:id="rId17"/>
    </p:embeddedFont>
    <p:embeddedFont>
      <p:font typeface="Urbanist Medium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60" y="54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185511" y="2758529"/>
            <a:ext cx="7820977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Informática </a:t>
            </a:r>
            <a:r>
              <a:rPr lang="en-US" sz="540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Empresarial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7512" y="3703290"/>
            <a:ext cx="62769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Herramientas Digitales para la Gestión Pública - Semana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71687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914400" y="2125563"/>
            <a:ext cx="48958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Trazabilidad:</a:t>
            </a:r>
            <a:r>
              <a:rPr lang="en-US" sz="16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Seguimiento exacto e inmutable de expedientes y procesos de contratación a lo largo de las distintas dependencias.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914400" y="3359646"/>
            <a:ext cx="48958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Transparencia:</a:t>
            </a:r>
            <a:r>
              <a:rPr lang="en-US" sz="16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Disponibilidad inmediata de datos abiertos y comprobables para fomentar la confianza de la ciudadanía.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14400" y="4593728"/>
            <a:ext cx="48958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Eficiencia (Cero Papel):</a:t>
            </a:r>
            <a:r>
              <a:rPr lang="en-US" sz="16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Reducción drástica de tiempos de espera y eliminación de la burocracia basada en documentos físicos.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81025" y="2144613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✓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3378696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✓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4612778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✓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El Rol de la Informática en el Estado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 descr="Abstract digital nodes data flow">
            <a:extLst>
              <a:ext uri="{FF2B5EF4-FFF2-40B4-BE49-F238E27FC236}">
                <a16:creationId xmlns:a16="http://schemas.microsoft.com/office/drawing/2014/main" id="{7D6E3772-02E1-25FC-E844-5B5E5500BF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252" y="2011263"/>
            <a:ext cx="5608097" cy="38704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81025" y="581025"/>
            <a:ext cx="5490686" cy="112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Procesadores de Texto: Word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81025" y="1828800"/>
            <a:ext cx="522922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9525"/>
            <a:ext cx="58007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81025" y="3018829"/>
            <a:ext cx="52292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Uso de Estilos:</a:t>
            </a:r>
            <a:r>
              <a:rPr lang="en-US" sz="16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Garantiza un formato uniforme institucional y permite generar tablas de contenido automáticas en documentos extensos.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81025" y="4252912"/>
            <a:ext cx="52292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Control de Cambios:</a:t>
            </a:r>
            <a:r>
              <a:rPr lang="en-US" sz="16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Herramienta fundamental para auditar borradores normativos cuando intervienen múltiples asesores técnicos y jurídicos colaborativos.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71675"/>
            <a:ext cx="3422600" cy="401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4625" y="1971675"/>
            <a:ext cx="3422600" cy="401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88225" y="1971675"/>
            <a:ext cx="3422600" cy="401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63625" y="23622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902077" y="3457575"/>
            <a:ext cx="278034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Edición Simultánea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76300" y="4010025"/>
            <a:ext cx="28320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Ideal para equipos interinstitucionales. Elimina el problema de tener múltiples archivos desactualizados circulando por correo.</a:t>
            </a:r>
            <a:endParaRPr/>
          </a:p>
        </p:txBody>
      </p:sp>
      <p:pic>
        <p:nvPicPr>
          <p:cNvPr id="123" name="Google Shape;12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67226" y="23622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4609099" y="3457575"/>
            <a:ext cx="2973652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Historial de Versiones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679900" y="4371975"/>
            <a:ext cx="28320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Permite auditar paso a paso el documento y restaurar información crítica que pudo haber sido eliminada por error.</a:t>
            </a:r>
            <a:endParaRPr/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70826" y="23622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8484274" y="3457575"/>
            <a:ext cx="283035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Comentarios Ágiles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483500" y="4010025"/>
            <a:ext cx="28320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Agiliza la revisión solicitando aportes o aclaraciones específicas a colegas mediante etiquetas directas en párrafos clave.</a:t>
            </a:r>
            <a:endParaRPr/>
          </a:p>
        </p:txBody>
      </p:sp>
      <p:pic>
        <p:nvPicPr>
          <p:cNvPr id="129" name="Google Shape;129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006500" y="256222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67251" y="25622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13701" y="256222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Colaboración en Google Docs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71687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2081212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6715125" y="2125563"/>
            <a:ext cx="48958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Condicionales (=SI):</a:t>
            </a:r>
            <a:r>
              <a:rPr lang="en-US" sz="16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Permiten evaluar distintos escenarios. Altamente útiles para programar alertas de ejecución en presupuestos.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715125" y="3359646"/>
            <a:ext cx="48958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Búsqueda (=BUSCARV):</a:t>
            </a:r>
            <a:r>
              <a:rPr lang="en-US" sz="16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Ideales para cruzar bases de datos complejas (ej. nómina de funcionarios y Recursos Humanos).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715125" y="4593728"/>
            <a:ext cx="48958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Suma Condicional (=SUMAR.SI):</a:t>
            </a:r>
            <a:r>
              <a:rPr lang="en-US" sz="16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Agrupa y totaliza gastos específicos por direcciones generales, departamentos o rubros precisos.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381750" y="2144613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✓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381750" y="3378696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✓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381750" y="4612778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✓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Excel: Fórmulas Clave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90142"/>
            <a:ext cx="5229225" cy="3773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90142"/>
            <a:ext cx="5229225" cy="377309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960358" y="2575917"/>
            <a:ext cx="4470558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Tablas Dinámicas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066800" y="3223617"/>
            <a:ext cx="4257675" cy="2010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Resumen grandes bases de datos (como el registro de compras públicas o censos de nóminas) instantáneamente. La segmentación de datos permite visualizar tableros de control interactivos sin necesidad de programar.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761083" y="2743497"/>
            <a:ext cx="4470558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Modelos Presupuestarios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867525" y="3391197"/>
            <a:ext cx="4257675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Utilizan referencias absolutas para mantener variables macroeconómicas fijas y emplean validación de datos (listas desplegables) para asegurar que la información ingresada cumpla con los estándares del Ministerio.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Tablas Dinámicas y Presupuestos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581025" y="2986087"/>
            <a:ext cx="4563367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10x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581025" y="4605337"/>
            <a:ext cx="456336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MAYOR VELOCIDAD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115942" y="2791122"/>
            <a:ext cx="576978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Eficiencia Operativa Real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115942" y="3343572"/>
            <a:ext cx="5495032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Al dominar las tablas dinámicas y las funciones lógicas, un gestor público capacitado puede transformar decenas de miles de registros crudos en informes ejecutivos consolidados en pocos minutos, eliminando días de procesamiento y depuración manual.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Impacto del Análisis de Datos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55452"/>
            <a:ext cx="34226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4625" y="1955452"/>
            <a:ext cx="34226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88225" y="1955452"/>
            <a:ext cx="34226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882074" y="4479577"/>
            <a:ext cx="282035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Gráficos Dinámicos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581025" y="5032027"/>
            <a:ext cx="34226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Incorpore datos vinculados desde Excel en lugar de presentar tablas estáticas y aburridas.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4715678" y="4479577"/>
            <a:ext cx="276034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Patrón Institucional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4384625" y="5032027"/>
            <a:ext cx="34226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El uso del Slide Master garantiza la correcta identidad visual y sobriedad del Estado.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8739306" y="4479577"/>
            <a:ext cx="232029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SmartArt Visual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8188225" y="5032027"/>
            <a:ext cx="34226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Convierte extensas listas de viñetas en diagramas de procesos claros y fáciles de explicar.</a:t>
            </a:r>
            <a:endParaRPr/>
          </a:p>
        </p:txBody>
      </p:sp>
      <p:pic>
        <p:nvPicPr>
          <p:cNvPr id="187" name="Google Shape;18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550" y="1964977"/>
            <a:ext cx="340355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94150" y="1964977"/>
            <a:ext cx="340355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97750" y="1964977"/>
            <a:ext cx="340355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Presentaciones Ejecutivas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1512986" y="1476375"/>
            <a:ext cx="8232427" cy="3286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1" u="none" strike="noStrike" cap="none" dirty="0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Como </a:t>
            </a:r>
            <a:r>
              <a:rPr lang="en-US" sz="3450" b="0" i="1" u="none" strike="noStrike" cap="none" dirty="0" err="1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parámetro</a:t>
            </a:r>
            <a:r>
              <a:rPr lang="en-US" sz="3450" b="0" i="1" u="none" strike="noStrike" cap="none" dirty="0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general, </a:t>
            </a:r>
            <a:r>
              <a:rPr lang="en-US" sz="3450" b="0" i="1" u="none" strike="noStrike" cap="none" dirty="0" err="1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una</a:t>
            </a:r>
            <a:r>
              <a:rPr lang="en-US" sz="3450" b="0" i="1" u="none" strike="noStrike" cap="none" dirty="0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3450" b="0" i="1" u="none" strike="noStrike" cap="none" dirty="0" err="1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presentación</a:t>
            </a:r>
            <a:r>
              <a:rPr lang="en-US" sz="3450" b="0" i="1" u="none" strike="noStrike" cap="none" dirty="0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3450" b="0" i="1" u="none" strike="noStrike" cap="none" dirty="0" err="1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ejecutiva</a:t>
            </a:r>
            <a:r>
              <a:rPr lang="en-US" sz="3450" b="0" i="1" u="none" strike="noStrike" cap="none" dirty="0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ideal </a:t>
            </a:r>
            <a:r>
              <a:rPr lang="en-US" sz="3450" b="0" i="1" u="none" strike="noStrike" cap="none" dirty="0" err="1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tiene</a:t>
            </a:r>
            <a:r>
              <a:rPr lang="en-US" sz="3450" b="0" i="1" u="none" strike="noStrike" cap="none" dirty="0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10 </a:t>
            </a:r>
            <a:r>
              <a:rPr lang="en-US" sz="3450" b="0" i="1" u="none" strike="noStrike" cap="none" dirty="0" err="1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diapositivas</a:t>
            </a:r>
            <a:r>
              <a:rPr lang="en-US" sz="3450" b="0" i="1" u="none" strike="noStrike" cap="none" dirty="0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, no dura </a:t>
            </a:r>
            <a:r>
              <a:rPr lang="en-US" sz="3450" b="0" i="1" u="none" strike="noStrike" cap="none" dirty="0" err="1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más</a:t>
            </a:r>
            <a:r>
              <a:rPr lang="en-US" sz="3450" b="0" i="1" u="none" strike="noStrike" cap="none" dirty="0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de 20 </a:t>
            </a:r>
            <a:r>
              <a:rPr lang="en-US" sz="3450" b="0" i="1" u="none" strike="noStrike" cap="none" dirty="0" err="1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minutos</a:t>
            </a:r>
            <a:r>
              <a:rPr lang="en-US" sz="3450" b="0" i="1" u="none" strike="noStrike" cap="none" dirty="0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, y la </a:t>
            </a:r>
            <a:r>
              <a:rPr lang="en-US" sz="3450" b="0" i="1" u="none" strike="noStrike" cap="none" dirty="0" err="1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fuente</a:t>
            </a:r>
            <a:r>
              <a:rPr lang="en-US" sz="3450" b="0" i="1" u="none" strike="noStrike" cap="none" dirty="0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no es </a:t>
            </a:r>
            <a:r>
              <a:rPr lang="en-US" sz="3450" b="0" i="1" u="none" strike="noStrike" cap="none" dirty="0" err="1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menor</a:t>
            </a:r>
            <a:r>
              <a:rPr lang="en-US" sz="3450" b="0" i="1" u="none" strike="noStrike" cap="none" dirty="0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 30 puntos para </a:t>
            </a:r>
            <a:r>
              <a:rPr lang="en-US" sz="3450" b="0" i="1" u="none" strike="noStrike" cap="none" dirty="0" err="1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asegurar</a:t>
            </a:r>
            <a:r>
              <a:rPr lang="en-US" sz="3450" b="0" i="1" u="none" strike="noStrike" cap="none" dirty="0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3450" b="0" i="1" u="none" strike="noStrike" cap="none" dirty="0" err="1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su</a:t>
            </a:r>
            <a:r>
              <a:rPr lang="en-US" sz="3450" b="0" i="1" u="none" strike="noStrike" cap="none" dirty="0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3450" b="0" i="1" u="none" strike="noStrike" cap="none" dirty="0" err="1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impacto</a:t>
            </a:r>
            <a:r>
              <a:rPr lang="en-US" sz="3450" b="0" i="1" u="none" strike="noStrike" cap="none" dirty="0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y </a:t>
            </a:r>
            <a:r>
              <a:rPr lang="en-US" sz="3450" b="0" i="1" u="none" strike="noStrike" cap="none" dirty="0" err="1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legibilidad</a:t>
            </a:r>
            <a:r>
              <a:rPr lang="en-US" sz="3450" b="0" i="1" u="none" strike="noStrike" cap="none" dirty="0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. </a:t>
            </a:r>
            <a:endParaRPr dirty="0"/>
          </a:p>
        </p:txBody>
      </p:sp>
      <p:sp>
        <p:nvSpPr>
          <p:cNvPr id="199" name="Google Shape;199;p21"/>
          <p:cNvSpPr txBox="1"/>
          <p:nvPr/>
        </p:nvSpPr>
        <p:spPr>
          <a:xfrm>
            <a:off x="4833788" y="5648325"/>
            <a:ext cx="25241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— GUY KAWASAKI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1217711" y="2457450"/>
            <a:ext cx="29527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1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10678865" y="5457825"/>
            <a:ext cx="29527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1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La Regla 10/20/30</a:t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1900475" y="2451794"/>
            <a:ext cx="8391048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¿Dudas o Consultas?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4210050" y="3775769"/>
            <a:ext cx="37719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Fin del Taller de la Semana 1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/>
          <p:nvPr/>
        </p:nvSpPr>
        <p:spPr>
          <a:xfrm>
            <a:off x="581025" y="1676400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581025" y="2461170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581025" y="3444031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581025" y="4426892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581025" y="5211663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581025" y="245164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581025" y="245164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581025" y="343450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581025" y="343450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581025" y="441736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581025" y="441736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581025" y="520213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581025" y="520213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581025" y="598690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581025" y="598690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258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1676400" y="1819275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https://images.stockcake.com/public/8/4/9/8499526e-abe3-4cc6-9710-8b85a43a05fc_large/glowing-data-waves-stockcake.jpg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1676400" y="2064990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stockcake.com</a:t>
            </a:r>
            <a:endParaRPr/>
          </a:p>
        </p:txBody>
      </p:sp>
      <p:pic>
        <p:nvPicPr>
          <p:cNvPr id="234" name="Google Shape;23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70971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1676400" y="2604045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https://media.istockphoto.com/id/1883285965/photo/an-unrecognizable-businesswoman-working-in-her-office-on-her-computer.jpg?s=612x612&amp;w=0&amp;k=20&amp;c=gGxCXAwnjSYtoYBxe3IviqIzkJc0WLTdmhUXpQxpcw8=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1676400" y="304785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www.istockphoto.com</a:t>
            </a:r>
            <a:endParaRPr/>
          </a:p>
        </p:txBody>
      </p:sp>
      <p:pic>
        <p:nvPicPr>
          <p:cNvPr id="237" name="Google Shape;23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69257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1676400" y="3586906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https://media.istockphoto.com/id/1317928013/photo/woman-working-with-data-and-graphs-in-spreadsheet-document-on-desktop-computer.jpg?s=612x612&amp;w=0&amp;k=20&amp;c=hBwJYXddq_JvW8KTWBSFz-tpcNFZ39SaFi1PeGIgXGg=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1676400" y="403071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www.istockphoto.com</a:t>
            </a:r>
            <a:endParaRPr/>
          </a:p>
        </p:txBody>
      </p:sp>
      <p:pic>
        <p:nvPicPr>
          <p:cNvPr id="240" name="Google Shape;240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57631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1676400" y="4569767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https://www.slideteam.net/media/catalog/product/cache/1280x720/f/i/five_staged_flow_chart_for_business_process_flat_powerpoint_desi_Slide01.jpg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1676400" y="481548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www.slideteam.net</a:t>
            </a:r>
            <a:endParaRPr/>
          </a:p>
        </p:txBody>
      </p:sp>
      <p:pic>
        <p:nvPicPr>
          <p:cNvPr id="243" name="Google Shape;243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536108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1676400" y="5354538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https://png.pngtree.com/template/20260122/ourlarge/pngtree-clean-and-minimalist-corporate-identity-branding-stationery-templates-vector-image_2067074.webp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1676400" y="560025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pngtree.com</a:t>
            </a:r>
            <a:endParaRPr/>
          </a:p>
        </p:txBody>
      </p:sp>
      <p:pic>
        <p:nvPicPr>
          <p:cNvPr id="246" name="Google Shape;246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25" y="62449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1676400" y="6139308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https://elements-resized.envatousercontent.com/elements-cover-images/3b74be7e-f025-4c42-b5c9-794b664f8564?w=433&amp;cf_fit=scale-down&amp;q=85&amp;format=auto&amp;s=300dc378a50fac2de3feceb54d3eeb34e13a7c6bf30072075a7e9d2fcebd4de4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1676400" y="6583114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elements.envato.com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50" name="Google Shape;250;p23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709</Words>
  <Application>Microsoft Office PowerPoint</Application>
  <PresentationFormat>Panorámica</PresentationFormat>
  <Paragraphs>63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Urbanist</vt:lpstr>
      <vt:lpstr>Arial</vt:lpstr>
      <vt:lpstr>Urbanist Medium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Marta Cuevas</dc:creator>
  <cp:lastModifiedBy>Marta Cuevas</cp:lastModifiedBy>
  <cp:revision>1</cp:revision>
  <dcterms:modified xsi:type="dcterms:W3CDTF">2026-07-06T23:43:05Z</dcterms:modified>
</cp:coreProperties>
</file>